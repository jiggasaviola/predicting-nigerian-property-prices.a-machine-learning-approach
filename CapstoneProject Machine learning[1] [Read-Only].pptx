
<file path=[Content_Types].xml><?xml version="1.0" encoding="utf-8"?>
<Types xmlns="http://schemas.openxmlformats.org/package/2006/content-types">
  <Default Extension="bin" ContentType="image/unknown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5" r:id="rId3"/>
    <p:sldId id="276" r:id="rId4"/>
    <p:sldId id="290" r:id="rId5"/>
    <p:sldId id="291" r:id="rId6"/>
    <p:sldId id="292" r:id="rId7"/>
    <p:sldId id="277" r:id="rId8"/>
    <p:sldId id="293" r:id="rId9"/>
    <p:sldId id="278" r:id="rId10"/>
    <p:sldId id="294" r:id="rId11"/>
    <p:sldId id="295" r:id="rId12"/>
    <p:sldId id="301" r:id="rId13"/>
    <p:sldId id="296" r:id="rId14"/>
    <p:sldId id="297" r:id="rId15"/>
    <p:sldId id="298" r:id="rId16"/>
    <p:sldId id="299" r:id="rId17"/>
    <p:sldId id="300" r:id="rId18"/>
    <p:sldId id="289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96257"/>
    <a:srgbClr val="252525"/>
    <a:srgbClr val="797878"/>
    <a:srgbClr val="B09885"/>
    <a:srgbClr val="F8343B"/>
    <a:srgbClr val="C34E4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72" autoAdjust="0"/>
    <p:restoredTop sz="94660"/>
  </p:normalViewPr>
  <p:slideViewPr>
    <p:cSldViewPr snapToGrid="0">
      <p:cViewPr varScale="1">
        <p:scale>
          <a:sx n="78" d="100"/>
          <a:sy n="78" d="100"/>
        </p:scale>
        <p:origin x="83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CB2EE8-A130-E816-8817-013D6BCF51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AFAA94-9151-B248-7DB2-7FCF3C749E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D47032-6F6B-F2FE-0031-95E9392CA2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38E97-DF15-45D3-9926-49D8609F4481}" type="datetimeFigureOut">
              <a:rPr lang="en-GB" smtClean="0"/>
              <a:t>04/11/2025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4D43DF-07D2-152B-BD66-814EE6F0DF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26A7BD-2091-AFC9-0D77-9F3AE1A5AD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1B051-1555-45A6-A47A-29EDF1ED629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972762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546909-9C51-79BF-F75E-3C47B60E3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008C7-49B5-043D-8847-FC9564D444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6989C8-F82A-2B2F-693C-CD9A5C6030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38E97-DF15-45D3-9926-49D8609F4481}" type="datetimeFigureOut">
              <a:rPr lang="en-GB" smtClean="0"/>
              <a:t>04/11/2025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CE88A9-41F2-77EF-C447-BA26FE92D7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C3A816-0897-519B-E600-EB56999122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1B051-1555-45A6-A47A-29EDF1ED629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5261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652C97-577D-3FDA-13B3-545BFEEDA0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88F7F5-7311-2948-6C44-DF582DE04A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1999C3-A51D-8D78-F910-E8DBC0AAB0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38E97-DF15-45D3-9926-49D8609F4481}" type="datetimeFigureOut">
              <a:rPr lang="en-GB" smtClean="0"/>
              <a:t>04/11/2025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25B402-425C-1B70-C631-D9ED83D706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D76986-A317-BBA8-701D-835959A4B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1B051-1555-45A6-A47A-29EDF1ED629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458531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0AABBB-5861-A56D-BA22-28F83A27D7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AB4934-5EB4-FBBA-9747-6EFCF1237F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64D573-2F2A-E73A-9DB3-696FA0E69E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A1E138-AD58-69E4-59B0-3F5D5DD85F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38E97-DF15-45D3-9926-49D8609F4481}" type="datetimeFigureOut">
              <a:rPr lang="en-GB" smtClean="0"/>
              <a:t>04/11/2025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4FC857-7016-C784-8CE4-AF5E5DCAD7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C2C5D5-8D4D-FB8C-3646-8DB2D3A6C8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1B051-1555-45A6-A47A-29EDF1ED629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567780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B3240B-6D89-07D4-F993-9BA94855EA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FC1704-7CAE-594F-D8FF-6B4300C090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D0198F-D35F-2408-CD38-250753A26B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5A24AB0-B481-FD5F-74C6-7A31636A43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DFEB29-929B-89CC-737D-D580923324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369B596-402E-9EF2-45EE-A05F928D8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38E97-DF15-45D3-9926-49D8609F4481}" type="datetimeFigureOut">
              <a:rPr lang="en-GB" smtClean="0"/>
              <a:t>04/11/2025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52D157F-1EB6-6AFA-7A2B-3E904FC4C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0760D9B-B8C4-6535-3DE0-0E7F8AC462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1B051-1555-45A6-A47A-29EDF1ED629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65297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900E5-0E6F-240F-7F0B-D67879CD27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C6687EF-5420-E43E-691C-3B1116272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38E97-DF15-45D3-9926-49D8609F4481}" type="datetimeFigureOut">
              <a:rPr lang="en-GB" smtClean="0"/>
              <a:t>04/11/2025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B11BF5-ABF4-6447-ED50-F62E1AEE8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4EB749-5F49-D0FF-59CB-1FCE1649A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1B051-1555-45A6-A47A-29EDF1ED629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870255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CB47479-15E9-981D-8CEB-B73B2DC9FF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38E97-DF15-45D3-9926-49D8609F4481}" type="datetimeFigureOut">
              <a:rPr lang="en-GB" smtClean="0"/>
              <a:t>04/11/2025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EB4C699-6807-2AB3-3FC1-382D463DC6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6CBF31-FFC0-A038-8DCF-D699C76FA1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1B051-1555-45A6-A47A-29EDF1ED629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801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6F4B4D-ABA7-246D-BC63-B96DCC39BE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BF3E83-7E6B-B874-1D09-E03D1390ED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CAFF4D-BE22-441D-10EC-882D628D0D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583AA8-D926-B8A0-FFA2-3609CE2AFC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38E97-DF15-45D3-9926-49D8609F4481}" type="datetimeFigureOut">
              <a:rPr lang="en-GB" smtClean="0"/>
              <a:t>04/11/2025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D11790-71D9-12CD-6D0C-3A31F72F2B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7169C7-D65F-ACD9-B5CA-F32F92676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1B051-1555-45A6-A47A-29EDF1ED629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650924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8A1103-A27F-4BD2-DF27-E3BD7559F8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5902C95-7667-26AE-E267-B49F3C9EE71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9281B8-0A9F-B9AC-85C5-9DE5DCBE51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0A13CD-6209-5ABE-76BD-317EB6CB96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38E97-DF15-45D3-9926-49D8609F4481}" type="datetimeFigureOut">
              <a:rPr lang="en-GB" smtClean="0"/>
              <a:t>04/11/2025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EBB684-5545-6A06-5C89-74CCB78A42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CF3AC7-529B-656A-6AA9-C80DA2DBD7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1B051-1555-45A6-A47A-29EDF1ED629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550298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E36C7-E258-2E0B-94BA-F00D01EC9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A8DD57A-3384-16DE-BFA5-68D6CBB205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61F78B-7CE0-A38D-34C5-F91E524366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38E97-DF15-45D3-9926-49D8609F4481}" type="datetimeFigureOut">
              <a:rPr lang="en-GB" smtClean="0"/>
              <a:t>04/11/2025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60563C-484E-BE2E-E10C-B252375884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017E9E-6E18-6A66-EE56-D9EC9A6724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1B051-1555-45A6-A47A-29EDF1ED629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599245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258ECBF-E3BA-622F-2217-7142EAB3D7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061054-CD46-B5C3-F6A6-725EF3B03D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64E6D1-1E05-DF7D-9E3B-2C64EACEC7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38E97-DF15-45D3-9926-49D8609F4481}" type="datetimeFigureOut">
              <a:rPr lang="en-GB" smtClean="0"/>
              <a:t>04/11/2025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E65C58-EDAF-D8BE-F455-3CB4E3C620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17B396-C903-1ED6-E916-E008990CE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1B051-1555-45A6-A47A-29EDF1ED629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285874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E67D3B7-A320-2352-7EA9-86C9A67B76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DD4F90-724A-6E6D-F911-74FC288F3C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A9CB8F-2065-AB3C-2BDC-FB0368D552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C38E97-DF15-45D3-9926-49D8609F4481}" type="datetimeFigureOut">
              <a:rPr lang="en-GB" smtClean="0"/>
              <a:t>04/11/2025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C3958E-223D-513F-9C15-8757D2EA52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69BD1A-D8CA-5694-7ED3-E644A1C93C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B1B051-1555-45A6-A47A-29EDF1ED629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90874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bin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Box 42">
            <a:extLst>
              <a:ext uri="{FF2B5EF4-FFF2-40B4-BE49-F238E27FC236}">
                <a16:creationId xmlns:a16="http://schemas.microsoft.com/office/drawing/2014/main" id="{1C733103-A4DE-CAE1-DCD8-B90AEB96092D}"/>
              </a:ext>
            </a:extLst>
          </p:cNvPr>
          <p:cNvSpPr txBox="1"/>
          <p:nvPr/>
        </p:nvSpPr>
        <p:spPr>
          <a:xfrm>
            <a:off x="2097199" y="4351465"/>
            <a:ext cx="817975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latin typeface="Tw Cen MT" panose="020B0602020104020603" pitchFamily="34" charset="0"/>
              </a:rPr>
              <a:t>A Machine Learning Approach</a:t>
            </a:r>
            <a:endParaRPr lang="en-GB" sz="4800" dirty="0">
              <a:latin typeface="Tw Cen MT" panose="020B0602020104020603" pitchFamily="34" charset="0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52F08E5B-80CA-4C04-ABC8-AA002BA88836}"/>
              </a:ext>
            </a:extLst>
          </p:cNvPr>
          <p:cNvSpPr txBox="1"/>
          <p:nvPr/>
        </p:nvSpPr>
        <p:spPr>
          <a:xfrm>
            <a:off x="1681317" y="1101029"/>
            <a:ext cx="9751186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600" dirty="0">
                <a:latin typeface="Tw Cen MT" panose="020B0602020104020603" pitchFamily="34" charset="0"/>
              </a:rPr>
              <a:t>Predicting Nigerian Property Prices:</a:t>
            </a:r>
            <a:endParaRPr lang="en-GB" sz="9600" dirty="0">
              <a:latin typeface="Tw Cen MT" panose="020B06020201040206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5694220"/>
      </p:ext>
    </p:extLst>
  </p:cSld>
  <p:clrMapOvr>
    <a:masterClrMapping/>
  </p:clrMapOvr>
  <p:transition>
    <p:wipe dir="r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7E5AD8F-C05A-9765-C305-32BCE40712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4F7BDBA4-4294-C3A3-F01D-B4A3296B08D4}"/>
              </a:ext>
            </a:extLst>
          </p:cNvPr>
          <p:cNvSpPr/>
          <p:nvPr/>
        </p:nvSpPr>
        <p:spPr>
          <a:xfrm>
            <a:off x="-267085" y="-48085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215900" dist="38100" sx="101000" sy="101000" algn="ctr" rotWithShape="0">
              <a:prstClr val="black">
                <a:alpha val="3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DCC4E65-717E-3C3F-6D31-EA294BE42363}"/>
              </a:ext>
            </a:extLst>
          </p:cNvPr>
          <p:cNvSpPr txBox="1"/>
          <p:nvPr/>
        </p:nvSpPr>
        <p:spPr>
          <a:xfrm>
            <a:off x="137653" y="0"/>
            <a:ext cx="1105073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5400" b="1" dirty="0">
                <a:latin typeface="Tw Cen MT" panose="020B0602020104020603" pitchFamily="34" charset="0"/>
              </a:rPr>
              <a:t>The Business Problem and Data Overview</a:t>
            </a:r>
            <a:endParaRPr lang="en-GB" sz="5400" b="1" dirty="0">
              <a:latin typeface="Tw Cen MT" panose="020B06020201040206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6B0B56-E0B0-6940-CD76-2833EBD86C06}"/>
              </a:ext>
            </a:extLst>
          </p:cNvPr>
          <p:cNvSpPr txBox="1"/>
          <p:nvPr/>
        </p:nvSpPr>
        <p:spPr>
          <a:xfrm>
            <a:off x="1170038" y="1939564"/>
            <a:ext cx="9490239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Tw Cen MT" panose="020B0602020104020603" pitchFamily="34" charset="0"/>
              </a:rPr>
              <a:t>The Problem: </a:t>
            </a:r>
            <a:r>
              <a:rPr lang="en-US" sz="3200" dirty="0">
                <a:latin typeface="Tw Cen MT" panose="020B0602020104020603" pitchFamily="34" charset="0"/>
              </a:rPr>
              <a:t>House prices in Nigeria are highly volatile and influenced by factors beyond simple physical size. </a:t>
            </a:r>
          </a:p>
          <a:p>
            <a:r>
              <a:rPr lang="en-US" sz="3200" b="1" dirty="0">
                <a:latin typeface="Tw Cen MT" panose="020B0602020104020603" pitchFamily="34" charset="0"/>
              </a:rPr>
              <a:t>Our goal </a:t>
            </a:r>
            <a:r>
              <a:rPr lang="en-US" sz="3200" dirty="0">
                <a:latin typeface="Tw Cen MT" panose="020B0602020104020603" pitchFamily="34" charset="0"/>
              </a:rPr>
              <a:t>is to build a predictive model to understand which features truly drive valuation.</a:t>
            </a:r>
          </a:p>
          <a:p>
            <a:r>
              <a:rPr lang="en-US" sz="3200" b="1" dirty="0">
                <a:latin typeface="Tw Cen MT" panose="020B0602020104020603" pitchFamily="34" charset="0"/>
              </a:rPr>
              <a:t>Our Data Scope </a:t>
            </a:r>
            <a:r>
              <a:rPr lang="en-US" sz="3200" dirty="0">
                <a:latin typeface="Tw Cen MT" panose="020B0602020104020603" pitchFamily="34" charset="0"/>
              </a:rPr>
              <a:t>(</a:t>
            </a:r>
            <a:r>
              <a:rPr lang="en-US" sz="3200" dirty="0" err="1">
                <a:latin typeface="Tw Cen MT" panose="020B0602020104020603" pitchFamily="34" charset="0"/>
              </a:rPr>
              <a:t>df.shape</a:t>
            </a:r>
            <a:r>
              <a:rPr lang="en-US" sz="3200" dirty="0">
                <a:latin typeface="Tw Cen MT" panose="020B0602020104020603" pitchFamily="34" charset="0"/>
              </a:rPr>
              <a:t>):24,326 Property Listings (Observations)8 Features (e.g., bedrooms, state, price)</a:t>
            </a:r>
          </a:p>
          <a:p>
            <a:r>
              <a:rPr lang="en-US" sz="3200" b="1" dirty="0">
                <a:latin typeface="Tw Cen MT" panose="020B0602020104020603" pitchFamily="34" charset="0"/>
              </a:rPr>
              <a:t>Key Features Selected for Modeling: </a:t>
            </a:r>
            <a:r>
              <a:rPr lang="en-US" sz="3200" dirty="0">
                <a:latin typeface="Tw Cen MT" panose="020B0602020104020603" pitchFamily="34" charset="0"/>
              </a:rPr>
              <a:t>bedrooms, bathrooms, toilets, </a:t>
            </a:r>
            <a:r>
              <a:rPr lang="en-US" sz="3200" dirty="0" err="1">
                <a:latin typeface="Tw Cen MT" panose="020B0602020104020603" pitchFamily="34" charset="0"/>
              </a:rPr>
              <a:t>parking_space</a:t>
            </a:r>
            <a:r>
              <a:rPr lang="en-US" sz="3200" dirty="0">
                <a:latin typeface="Tw Cen MT" panose="020B0602020104020603" pitchFamily="34" charset="0"/>
              </a:rPr>
              <a:t>, title, and state.</a:t>
            </a:r>
            <a:endParaRPr lang="en-GB" sz="3200" dirty="0">
              <a:latin typeface="Tw Cen MT" panose="020B06020201040206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1011971"/>
      </p:ext>
    </p:extLst>
  </p:cSld>
  <p:clrMapOvr>
    <a:masterClrMapping/>
  </p:clrMapOvr>
  <p:transition>
    <p:wipe dir="r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9A217B-6C7E-A011-92C8-71BA8D2CC2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6E4209C-2620-0C99-C7CE-4F334F00706D}"/>
              </a:ext>
            </a:extLst>
          </p:cNvPr>
          <p:cNvSpPr/>
          <p:nvPr/>
        </p:nvSpPr>
        <p:spPr>
          <a:xfrm>
            <a:off x="-194515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215900" dist="38100" sx="101000" sy="101000" algn="ctr" rotWithShape="0">
              <a:prstClr val="black">
                <a:alpha val="3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 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3F20E51-EC28-6D3E-EF7D-30EA000E4EAA}"/>
              </a:ext>
            </a:extLst>
          </p:cNvPr>
          <p:cNvSpPr/>
          <p:nvPr/>
        </p:nvSpPr>
        <p:spPr>
          <a:xfrm>
            <a:off x="-40991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215900" dist="38100" sx="101000" sy="101000" algn="ctr" rotWithShape="0">
              <a:prstClr val="black">
                <a:alpha val="3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C4DCE8-386D-FF15-6133-A8F9A0FB7B03}"/>
              </a:ext>
            </a:extLst>
          </p:cNvPr>
          <p:cNvSpPr txBox="1"/>
          <p:nvPr/>
        </p:nvSpPr>
        <p:spPr>
          <a:xfrm>
            <a:off x="-194515" y="118813"/>
            <a:ext cx="1125168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5400" b="1" dirty="0">
                <a:latin typeface="Tw Cen MT" panose="020B0602020104020603" pitchFamily="34" charset="0"/>
              </a:rPr>
              <a:t>Tackling Data Challenges (Mandatory for Model Integrity)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9CFAB7F-BB10-8F28-5FBD-3C40B399E080}"/>
              </a:ext>
            </a:extLst>
          </p:cNvPr>
          <p:cNvSpPr txBox="1"/>
          <p:nvPr/>
        </p:nvSpPr>
        <p:spPr>
          <a:xfrm>
            <a:off x="1194374" y="1991952"/>
            <a:ext cx="10004568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Tw Cen MT" panose="020B0602020104020603" pitchFamily="34" charset="0"/>
              </a:rPr>
              <a:t>Challenge A: </a:t>
            </a:r>
            <a:r>
              <a:rPr lang="en-US" sz="3600" dirty="0">
                <a:latin typeface="Tw Cen MT" panose="020B0602020104020603" pitchFamily="34" charset="0"/>
              </a:rPr>
              <a:t>Extreme Outliers Evidence: </a:t>
            </a:r>
          </a:p>
          <a:p>
            <a:r>
              <a:rPr lang="en-US" sz="3600" dirty="0">
                <a:latin typeface="Tw Cen MT" panose="020B0602020104020603" pitchFamily="34" charset="0"/>
              </a:rPr>
              <a:t>The raw data showed a massive imbalance (e.g., Average Lagos Price was N345M vs. Median of N95M). This was due to ultra-luxury/erroneous listings.</a:t>
            </a:r>
          </a:p>
          <a:p>
            <a:r>
              <a:rPr lang="en-US" sz="3600" dirty="0">
                <a:latin typeface="Tw Cen MT" panose="020B0602020104020603" pitchFamily="34" charset="0"/>
              </a:rPr>
              <a:t>Using the Interquartile Range (IQR) method on the log transformation for the price to filter and remove these extreme values..</a:t>
            </a:r>
            <a:endParaRPr lang="en-GB" sz="3600" dirty="0">
              <a:latin typeface="Tw Cen MT" panose="020B06020201040206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1984501"/>
      </p:ext>
    </p:extLst>
  </p:cSld>
  <p:clrMapOvr>
    <a:masterClrMapping/>
  </p:clrMapOvr>
  <p:transition>
    <p:wipe dir="r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653A26-317E-3D39-5543-7F908433F3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340BD3C-8D6A-F589-0546-C3D989BB692D}"/>
              </a:ext>
            </a:extLst>
          </p:cNvPr>
          <p:cNvSpPr/>
          <p:nvPr/>
        </p:nvSpPr>
        <p:spPr>
          <a:xfrm>
            <a:off x="-194515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215900" dist="38100" sx="101000" sy="101000" algn="ctr" rotWithShape="0">
              <a:prstClr val="black">
                <a:alpha val="3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 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09F7BB5-F1B7-6E3F-90AC-7A213BE19B4E}"/>
              </a:ext>
            </a:extLst>
          </p:cNvPr>
          <p:cNvSpPr/>
          <p:nvPr/>
        </p:nvSpPr>
        <p:spPr>
          <a:xfrm>
            <a:off x="-40991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215900" dist="38100" sx="101000" sy="101000" algn="ctr" rotWithShape="0">
              <a:prstClr val="black">
                <a:alpha val="3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D16B25C-2CF0-1F92-E205-743C6A1A7474}"/>
              </a:ext>
            </a:extLst>
          </p:cNvPr>
          <p:cNvSpPr txBox="1"/>
          <p:nvPr/>
        </p:nvSpPr>
        <p:spPr>
          <a:xfrm>
            <a:off x="658072" y="139784"/>
            <a:ext cx="1068634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5400" b="1" dirty="0">
                <a:latin typeface="Tw Cen MT" panose="020B0602020104020603" pitchFamily="34" charset="0"/>
              </a:rPr>
              <a:t>Tackling Data Challenges (Mandatory for Model Integrity)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FCB72D-B3A5-97D3-0BF7-614A5FCC5157}"/>
              </a:ext>
            </a:extLst>
          </p:cNvPr>
          <p:cNvSpPr txBox="1"/>
          <p:nvPr/>
        </p:nvSpPr>
        <p:spPr>
          <a:xfrm>
            <a:off x="1562812" y="2238239"/>
            <a:ext cx="9478813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Tw Cen MT" panose="020B0602020104020603" pitchFamily="34" charset="0"/>
              </a:rPr>
              <a:t>Challenge B</a:t>
            </a:r>
            <a:r>
              <a:rPr lang="en-US" sz="3600" dirty="0">
                <a:latin typeface="Tw Cen MT" panose="020B0602020104020603" pitchFamily="34" charset="0"/>
              </a:rPr>
              <a:t>: Data Skewness Evidence: </a:t>
            </a:r>
          </a:p>
          <a:p>
            <a:r>
              <a:rPr lang="en-US" sz="3600" dirty="0">
                <a:latin typeface="Tw Cen MT" panose="020B0602020104020603" pitchFamily="34" charset="0"/>
              </a:rPr>
              <a:t>The raw price distribution was heavily skewed to the right (many low prices, few high prices).</a:t>
            </a:r>
          </a:p>
          <a:p>
            <a:r>
              <a:rPr lang="en-US" sz="3600" dirty="0">
                <a:latin typeface="Tw Cen MT" panose="020B0602020104020603" pitchFamily="34" charset="0"/>
              </a:rPr>
              <a:t>Applied Log Transformation of price. This step normalized the data, which is mandatory for a Linear Regression model.</a:t>
            </a:r>
          </a:p>
        </p:txBody>
      </p:sp>
    </p:spTree>
    <p:extLst>
      <p:ext uri="{BB962C8B-B14F-4D97-AF65-F5344CB8AC3E}">
        <p14:creationId xmlns:p14="http://schemas.microsoft.com/office/powerpoint/2010/main" val="3548753559"/>
      </p:ext>
    </p:extLst>
  </p:cSld>
  <p:clrMapOvr>
    <a:masterClrMapping/>
  </p:clrMapOvr>
  <p:transition>
    <p:wipe dir="r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A7F913-BEF5-F403-E9D6-04B002F985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5C4F518-5729-4BD9-F732-F4BC23AF8B09}"/>
              </a:ext>
            </a:extLst>
          </p:cNvPr>
          <p:cNvSpPr/>
          <p:nvPr/>
        </p:nvSpPr>
        <p:spPr>
          <a:xfrm>
            <a:off x="-194515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215900" dist="38100" sx="101000" sy="101000" algn="ctr" rotWithShape="0">
              <a:prstClr val="black">
                <a:alpha val="3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 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DE95DDB-404E-ED7B-CC3E-77044F83DA5D}"/>
              </a:ext>
            </a:extLst>
          </p:cNvPr>
          <p:cNvSpPr/>
          <p:nvPr/>
        </p:nvSpPr>
        <p:spPr>
          <a:xfrm>
            <a:off x="-40991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215900" dist="38100" sx="101000" sy="101000" algn="ctr" rotWithShape="0">
              <a:prstClr val="black">
                <a:alpha val="3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9709061-C0C6-E32E-5BBE-675E72D67218}"/>
              </a:ext>
            </a:extLst>
          </p:cNvPr>
          <p:cNvSpPr txBox="1"/>
          <p:nvPr/>
        </p:nvSpPr>
        <p:spPr>
          <a:xfrm>
            <a:off x="1012976" y="375814"/>
            <a:ext cx="929122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000" b="1" dirty="0">
                <a:latin typeface="Tw Cen MT" panose="020B0602020104020603" pitchFamily="34" charset="0"/>
              </a:rPr>
              <a:t>Tackling Data Challenges (Mandatory for Model Integrity)</a:t>
            </a:r>
          </a:p>
        </p:txBody>
      </p:sp>
      <p:pic>
        <p:nvPicPr>
          <p:cNvPr id="3" name="Picture 2" descr="A white rectangular object with black dots&#10;&#10;AI-generated content may be incorrect.">
            <a:extLst>
              <a:ext uri="{FF2B5EF4-FFF2-40B4-BE49-F238E27FC236}">
                <a16:creationId xmlns:a16="http://schemas.microsoft.com/office/drawing/2014/main" id="{6A4C5A72-CDBA-21EE-B1A7-28E5CEC4D4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0778" y="2075067"/>
            <a:ext cx="8590623" cy="4073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8970686"/>
      </p:ext>
    </p:extLst>
  </p:cSld>
  <p:clrMapOvr>
    <a:masterClrMapping/>
  </p:clrMapOvr>
  <p:transition>
    <p:wipe dir="r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7FF96E-A58C-3D38-2966-90AF61F6ED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903C5274-FB5B-1069-07B8-78CA03E5C466}"/>
              </a:ext>
            </a:extLst>
          </p:cNvPr>
          <p:cNvSpPr/>
          <p:nvPr/>
        </p:nvSpPr>
        <p:spPr>
          <a:xfrm>
            <a:off x="-194515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215900" dist="38100" sx="101000" sy="101000" algn="ctr" rotWithShape="0">
              <a:prstClr val="black">
                <a:alpha val="3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 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3B8032C-95A1-3056-1E27-07E0024111A0}"/>
              </a:ext>
            </a:extLst>
          </p:cNvPr>
          <p:cNvSpPr/>
          <p:nvPr/>
        </p:nvSpPr>
        <p:spPr>
          <a:xfrm>
            <a:off x="-40991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215900" dist="38100" sx="101000" sy="101000" algn="ctr" rotWithShape="0">
              <a:prstClr val="black">
                <a:alpha val="3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B2119EC-FC90-C271-8849-459F6944BA53}"/>
              </a:ext>
            </a:extLst>
          </p:cNvPr>
          <p:cNvSpPr txBox="1"/>
          <p:nvPr/>
        </p:nvSpPr>
        <p:spPr>
          <a:xfrm>
            <a:off x="1130710" y="118813"/>
            <a:ext cx="992646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000" b="1" dirty="0">
                <a:latin typeface="Tw Cen MT" panose="020B0602020104020603" pitchFamily="34" charset="0"/>
              </a:rPr>
              <a:t>Tackling Data Challenges (Mandatory for Model Integrity)</a:t>
            </a:r>
          </a:p>
        </p:txBody>
      </p:sp>
      <p:pic>
        <p:nvPicPr>
          <p:cNvPr id="7" name="Picture 6" descr="A graph showing a line and a line&#10;&#10;AI-generated content may be incorrect.">
            <a:extLst>
              <a:ext uri="{FF2B5EF4-FFF2-40B4-BE49-F238E27FC236}">
                <a16:creationId xmlns:a16="http://schemas.microsoft.com/office/drawing/2014/main" id="{34BF4408-0EF6-A565-71BF-899C327711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9782" y="1895362"/>
            <a:ext cx="7932615" cy="4086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5549847"/>
      </p:ext>
    </p:extLst>
  </p:cSld>
  <p:clrMapOvr>
    <a:masterClrMapping/>
  </p:clrMapOvr>
  <p:transition>
    <p:wipe dir="r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5E36FC7-2507-5285-4100-B022328F4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97CFF464-B018-FA42-0EF5-B6A1C9EE403A}"/>
              </a:ext>
            </a:extLst>
          </p:cNvPr>
          <p:cNvSpPr/>
          <p:nvPr/>
        </p:nvSpPr>
        <p:spPr>
          <a:xfrm>
            <a:off x="-194515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215900" dist="38100" sx="101000" sy="101000" algn="ctr" rotWithShape="0">
              <a:prstClr val="black">
                <a:alpha val="3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 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0918D12-D12F-399C-30D3-EB3BF5C1CB99}"/>
              </a:ext>
            </a:extLst>
          </p:cNvPr>
          <p:cNvSpPr/>
          <p:nvPr/>
        </p:nvSpPr>
        <p:spPr>
          <a:xfrm>
            <a:off x="-40991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215900" dist="38100" sx="101000" sy="101000" algn="ctr" rotWithShape="0">
              <a:prstClr val="black">
                <a:alpha val="3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 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9A2108F-7F2B-82DD-5C52-5FB67C6860E1}"/>
              </a:ext>
            </a:extLst>
          </p:cNvPr>
          <p:cNvSpPr/>
          <p:nvPr/>
        </p:nvSpPr>
        <p:spPr>
          <a:xfrm>
            <a:off x="-678646" y="-1238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215900" dist="38100" sx="101000" sy="101000" algn="ctr" rotWithShape="0">
              <a:prstClr val="black">
                <a:alpha val="3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9434B8A-692F-DF4D-82EA-554EE565BB17}"/>
              </a:ext>
            </a:extLst>
          </p:cNvPr>
          <p:cNvSpPr txBox="1"/>
          <p:nvPr/>
        </p:nvSpPr>
        <p:spPr>
          <a:xfrm>
            <a:off x="-194515" y="508506"/>
            <a:ext cx="1125461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5400" b="1" dirty="0">
                <a:latin typeface="Tw Cen MT" panose="020B0602020104020603" pitchFamily="34" charset="0"/>
              </a:rPr>
              <a:t>Market Concentration (State Summary)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21E777B-926C-C6F8-7F04-AB6F244CEF98}"/>
              </a:ext>
            </a:extLst>
          </p:cNvPr>
          <p:cNvSpPr txBox="1"/>
          <p:nvPr/>
        </p:nvSpPr>
        <p:spPr>
          <a:xfrm>
            <a:off x="495362" y="1825179"/>
            <a:ext cx="10381455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Tw Cen MT" panose="020B0602020104020603" pitchFamily="34" charset="0"/>
              </a:rPr>
              <a:t>Key Finding</a:t>
            </a:r>
          </a:p>
          <a:p>
            <a:r>
              <a:rPr lang="en-US" sz="3600" dirty="0">
                <a:latin typeface="Tw Cen MT" panose="020B0602020104020603" pitchFamily="34" charset="0"/>
              </a:rPr>
              <a:t>Lagos: Dominates the market (over 75% of listings).</a:t>
            </a:r>
          </a:p>
          <a:p>
            <a:r>
              <a:rPr lang="en-US" sz="3600" dirty="0">
                <a:latin typeface="Tw Cen MT" panose="020B0602020104020603" pitchFamily="34" charset="0"/>
              </a:rPr>
              <a:t>Abuja: Second major market (approx. 15% of listings).</a:t>
            </a:r>
          </a:p>
          <a:p>
            <a:endParaRPr lang="en-US" sz="3600" dirty="0">
              <a:latin typeface="Tw Cen MT" panose="020B0602020104020603" pitchFamily="34" charset="0"/>
            </a:endParaRPr>
          </a:p>
          <a:p>
            <a:r>
              <a:rPr lang="en-US" sz="3600" b="1" dirty="0">
                <a:latin typeface="Tw Cen MT" panose="020B0602020104020603" pitchFamily="34" charset="0"/>
              </a:rPr>
              <a:t>Insight</a:t>
            </a:r>
          </a:p>
          <a:p>
            <a:r>
              <a:rPr lang="en-US" sz="3600" dirty="0">
                <a:latin typeface="Tw Cen MT" panose="020B0602020104020603" pitchFamily="34" charset="0"/>
              </a:rPr>
              <a:t>Property value is highly concentrated in these two states, confirming that Location is the strongest initial factor.</a:t>
            </a:r>
            <a:endParaRPr lang="en-GB" sz="3600" dirty="0">
              <a:latin typeface="Tw Cen MT" panose="020B06020201040206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1711367"/>
      </p:ext>
    </p:extLst>
  </p:cSld>
  <p:clrMapOvr>
    <a:masterClrMapping/>
  </p:clrMapOvr>
  <p:transition>
    <p:wipe dir="r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BD81E6A-CDA9-62FA-68EB-81B09E4191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TextBox 68">
            <a:extLst>
              <a:ext uri="{FF2B5EF4-FFF2-40B4-BE49-F238E27FC236}">
                <a16:creationId xmlns:a16="http://schemas.microsoft.com/office/drawing/2014/main" id="{AC483458-2C98-FFD3-73EC-7729BAF57D6D}"/>
              </a:ext>
            </a:extLst>
          </p:cNvPr>
          <p:cNvSpPr txBox="1"/>
          <p:nvPr/>
        </p:nvSpPr>
        <p:spPr>
          <a:xfrm>
            <a:off x="2432569" y="1955362"/>
            <a:ext cx="732686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dirty="0">
                <a:latin typeface="Tw Cen MT" panose="020B0602020104020603" pitchFamily="34" charset="0"/>
              </a:rPr>
              <a:t>Model Training &amp; Diagnostics</a:t>
            </a:r>
            <a:endParaRPr lang="en-GB" sz="7200" dirty="0">
              <a:latin typeface="Tw Cen MT" panose="020B06020201040206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9205559"/>
      </p:ext>
    </p:extLst>
  </p:cSld>
  <p:clrMapOvr>
    <a:masterClrMapping/>
  </p:clrMapOvr>
  <p:transition>
    <p:wipe dir="r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F0ECFB-F47C-B672-E662-B8018EED45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D169CE4F-272C-B88B-3130-90B978F56436}"/>
              </a:ext>
            </a:extLst>
          </p:cNvPr>
          <p:cNvSpPr/>
          <p:nvPr/>
        </p:nvSpPr>
        <p:spPr>
          <a:xfrm>
            <a:off x="-194515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215900" dist="38100" sx="101000" sy="101000" algn="ctr" rotWithShape="0">
              <a:prstClr val="black">
                <a:alpha val="3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 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64DC56E-2490-7A26-6929-6C6B99E94944}"/>
              </a:ext>
            </a:extLst>
          </p:cNvPr>
          <p:cNvSpPr/>
          <p:nvPr/>
        </p:nvSpPr>
        <p:spPr>
          <a:xfrm>
            <a:off x="-40991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215900" dist="38100" sx="101000" sy="101000" algn="ctr" rotWithShape="0">
              <a:prstClr val="black">
                <a:alpha val="3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 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1B9385D-ECB3-300C-9947-5979860DF35E}"/>
              </a:ext>
            </a:extLst>
          </p:cNvPr>
          <p:cNvSpPr/>
          <p:nvPr/>
        </p:nvSpPr>
        <p:spPr>
          <a:xfrm>
            <a:off x="-678646" y="-1238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215900" dist="38100" sx="101000" sy="101000" algn="ctr" rotWithShape="0">
              <a:prstClr val="black">
                <a:alpha val="3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 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F247957-F413-743F-D28D-9B412080913B}"/>
              </a:ext>
            </a:extLst>
          </p:cNvPr>
          <p:cNvSpPr/>
          <p:nvPr/>
        </p:nvSpPr>
        <p:spPr>
          <a:xfrm>
            <a:off x="-968500" y="1067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215900" dist="38100" sx="101000" sy="101000" algn="ctr" rotWithShape="0">
              <a:prstClr val="black">
                <a:alpha val="3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3C1FD89-3D0D-1838-A68F-35CC6DA02976}"/>
              </a:ext>
            </a:extLst>
          </p:cNvPr>
          <p:cNvSpPr txBox="1"/>
          <p:nvPr/>
        </p:nvSpPr>
        <p:spPr>
          <a:xfrm>
            <a:off x="1056414" y="398114"/>
            <a:ext cx="872187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5400" b="1" dirty="0">
                <a:latin typeface="Tw Cen MT" panose="020B0602020104020603" pitchFamily="34" charset="0"/>
              </a:rPr>
              <a:t>Initial Model &amp; Major Flaw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965E503-DABB-C2A9-DF90-7B04638778FC}"/>
              </a:ext>
            </a:extLst>
          </p:cNvPr>
          <p:cNvSpPr txBox="1"/>
          <p:nvPr/>
        </p:nvSpPr>
        <p:spPr>
          <a:xfrm>
            <a:off x="194515" y="1322511"/>
            <a:ext cx="10407937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Tw Cen MT" panose="020B0602020104020603" pitchFamily="34" charset="0"/>
              </a:rPr>
              <a:t>Model Used: </a:t>
            </a:r>
            <a:r>
              <a:rPr lang="en-US" sz="3600" dirty="0">
                <a:latin typeface="Tw Cen MT" panose="020B0602020104020603" pitchFamily="34" charset="0"/>
              </a:rPr>
              <a:t>Linear Regression (the starting point).</a:t>
            </a:r>
          </a:p>
          <a:p>
            <a:r>
              <a:rPr lang="en-US" sz="3600" b="1" dirty="0">
                <a:latin typeface="Tw Cen MT" panose="020B0602020104020603" pitchFamily="34" charset="0"/>
              </a:rPr>
              <a:t>The Initial Flaw: </a:t>
            </a:r>
            <a:r>
              <a:rPr lang="en-US" sz="3600" dirty="0">
                <a:latin typeface="Tw Cen MT" panose="020B0602020104020603" pitchFamily="34" charset="0"/>
              </a:rPr>
              <a:t>The coefficients were highly unstable and untrustworthy due to an issue called Multicollinearity.</a:t>
            </a:r>
          </a:p>
          <a:p>
            <a:r>
              <a:rPr lang="en-US" sz="3600" b="1" dirty="0">
                <a:latin typeface="Tw Cen MT" panose="020B0602020104020603" pitchFamily="34" charset="0"/>
              </a:rPr>
              <a:t>Diagnosis Tool: </a:t>
            </a:r>
            <a:r>
              <a:rPr lang="en-US" sz="3600" dirty="0">
                <a:latin typeface="Tw Cen MT" panose="020B0602020104020603" pitchFamily="34" charset="0"/>
              </a:rPr>
              <a:t>Variance Inflation Factor (VIF).Initial Problem Evidence: VIF for state.</a:t>
            </a:r>
          </a:p>
          <a:p>
            <a:r>
              <a:rPr lang="en-US" sz="3600" dirty="0">
                <a:latin typeface="Tw Cen MT" panose="020B0602020104020603" pitchFamily="34" charset="0"/>
              </a:rPr>
              <a:t>Lagos was 464, far above the acceptable threshold of 10.</a:t>
            </a:r>
            <a:endParaRPr lang="en-GB" sz="3600" dirty="0">
              <a:latin typeface="Tw Cen MT" panose="020B06020201040206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3226130"/>
      </p:ext>
    </p:extLst>
  </p:cSld>
  <p:clrMapOvr>
    <a:masterClrMapping/>
  </p:clrMapOvr>
  <p:transition>
    <p:wipe dir="r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168CC8B-1362-2A4B-68CD-DA83269648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E61FFE6-2995-0DE2-CC8A-365555063D88}"/>
              </a:ext>
            </a:extLst>
          </p:cNvPr>
          <p:cNvSpPr/>
          <p:nvPr/>
        </p:nvSpPr>
        <p:spPr>
          <a:xfrm>
            <a:off x="-194515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215900" dist="38100" sx="101000" sy="101000" algn="ctr" rotWithShape="0">
              <a:prstClr val="black">
                <a:alpha val="3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 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07F83E1-79C7-AFF8-4421-F29507BA3635}"/>
              </a:ext>
            </a:extLst>
          </p:cNvPr>
          <p:cNvSpPr/>
          <p:nvPr/>
        </p:nvSpPr>
        <p:spPr>
          <a:xfrm>
            <a:off x="-40991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215900" dist="38100" sx="101000" sy="101000" algn="ctr" rotWithShape="0">
              <a:prstClr val="black">
                <a:alpha val="3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 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227243A-F672-6474-83B0-810E84F71102}"/>
              </a:ext>
            </a:extLst>
          </p:cNvPr>
          <p:cNvSpPr/>
          <p:nvPr/>
        </p:nvSpPr>
        <p:spPr>
          <a:xfrm>
            <a:off x="-678646" y="-1238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215900" dist="38100" sx="101000" sy="101000" algn="ctr" rotWithShape="0">
              <a:prstClr val="black">
                <a:alpha val="3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 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21EB72B-FD29-2B70-E272-F08A9CD72C22}"/>
              </a:ext>
            </a:extLst>
          </p:cNvPr>
          <p:cNvSpPr/>
          <p:nvPr/>
        </p:nvSpPr>
        <p:spPr>
          <a:xfrm>
            <a:off x="-968500" y="1067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215900" dist="38100" sx="101000" sy="101000" algn="ctr" rotWithShape="0">
              <a:prstClr val="black">
                <a:alpha val="3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26DAC8A-12B6-5E58-5B81-CCED0DDEC388}"/>
              </a:ext>
            </a:extLst>
          </p:cNvPr>
          <p:cNvSpPr txBox="1"/>
          <p:nvPr/>
        </p:nvSpPr>
        <p:spPr>
          <a:xfrm>
            <a:off x="774037" y="398114"/>
            <a:ext cx="849778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5400" b="1" dirty="0">
                <a:latin typeface="Tw Cen MT" panose="020B0602020104020603" pitchFamily="34" charset="0"/>
              </a:rPr>
              <a:t>Solving Multicollinearity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AB4C5E6-B27A-B7F5-FFF7-AE656E7998A0}"/>
              </a:ext>
            </a:extLst>
          </p:cNvPr>
          <p:cNvSpPr txBox="1"/>
          <p:nvPr/>
        </p:nvSpPr>
        <p:spPr>
          <a:xfrm>
            <a:off x="117987" y="1322511"/>
            <a:ext cx="10484465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Tw Cen MT" panose="020B0602020104020603" pitchFamily="34" charset="0"/>
              </a:rPr>
              <a:t>What is Multicollinearity: Features are redundant (e.g., bedrooms and bathrooms measure the same "size" concept).</a:t>
            </a:r>
          </a:p>
          <a:p>
            <a:r>
              <a:rPr lang="en-US" sz="3600" b="1" dirty="0">
                <a:latin typeface="Tw Cen MT" panose="020B0602020104020603" pitchFamily="34" charset="0"/>
              </a:rPr>
              <a:t>Action Taken: </a:t>
            </a:r>
            <a:r>
              <a:rPr lang="en-US" sz="3600" dirty="0">
                <a:latin typeface="Tw Cen MT" panose="020B0602020104020603" pitchFamily="34" charset="0"/>
              </a:rPr>
              <a:t>Iteratively removed the feature with the highest VIF: </a:t>
            </a:r>
            <a:r>
              <a:rPr lang="en-US" sz="3600" dirty="0" err="1">
                <a:latin typeface="Tw Cen MT" panose="020B0602020104020603" pitchFamily="34" charset="0"/>
              </a:rPr>
              <a:t>state_Lagos</a:t>
            </a:r>
            <a:r>
              <a:rPr lang="en-US" sz="3600" dirty="0">
                <a:latin typeface="Tw Cen MT" panose="020B0602020104020603" pitchFamily="34" charset="0"/>
              </a:rPr>
              <a:t>.</a:t>
            </a:r>
          </a:p>
          <a:p>
            <a:r>
              <a:rPr lang="en-US" sz="3600" b="1" dirty="0">
                <a:latin typeface="Tw Cen MT" panose="020B0602020104020603" pitchFamily="34" charset="0"/>
              </a:rPr>
              <a:t>Result (Post-Correction): </a:t>
            </a:r>
            <a:r>
              <a:rPr lang="en-US" sz="3600" dirty="0">
                <a:latin typeface="Tw Cen MT" panose="020B0602020104020603" pitchFamily="34" charset="0"/>
              </a:rPr>
              <a:t>All remaining VIF scores dropped to below 6. The model became stable (coefficients were now reliable).</a:t>
            </a:r>
            <a:endParaRPr lang="en-GB" sz="3600" dirty="0">
              <a:latin typeface="Tw Cen MT" panose="020B06020201040206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9939704"/>
      </p:ext>
    </p:extLst>
  </p:cSld>
  <p:clrMapOvr>
    <a:masterClrMapping/>
  </p:clrMapOvr>
  <p:transition>
    <p:wipe dir="r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2F2CFAF-7DE4-942A-0AD3-8401118DB6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08361C4-4152-6503-7593-18CB3DA5D79B}"/>
              </a:ext>
            </a:extLst>
          </p:cNvPr>
          <p:cNvSpPr/>
          <p:nvPr/>
        </p:nvSpPr>
        <p:spPr>
          <a:xfrm>
            <a:off x="-194515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215900" dist="38100" sx="101000" sy="101000" algn="ctr" rotWithShape="0">
              <a:prstClr val="black">
                <a:alpha val="3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 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9EC0303-C1B2-9632-5DC4-003400C8303A}"/>
              </a:ext>
            </a:extLst>
          </p:cNvPr>
          <p:cNvSpPr/>
          <p:nvPr/>
        </p:nvSpPr>
        <p:spPr>
          <a:xfrm>
            <a:off x="-40991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215900" dist="38100" sx="101000" sy="101000" algn="ctr" rotWithShape="0">
              <a:prstClr val="black">
                <a:alpha val="3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 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22A065C-0964-070D-0807-21C3E987C2E4}"/>
              </a:ext>
            </a:extLst>
          </p:cNvPr>
          <p:cNvSpPr/>
          <p:nvPr/>
        </p:nvSpPr>
        <p:spPr>
          <a:xfrm>
            <a:off x="-678646" y="-1238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215900" dist="38100" sx="101000" sy="101000" algn="ctr" rotWithShape="0">
              <a:prstClr val="black">
                <a:alpha val="3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 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34DA647-8277-029A-073A-576D95383BEE}"/>
              </a:ext>
            </a:extLst>
          </p:cNvPr>
          <p:cNvSpPr/>
          <p:nvPr/>
        </p:nvSpPr>
        <p:spPr>
          <a:xfrm>
            <a:off x="-968500" y="1067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215900" dist="38100" sx="101000" sy="101000" algn="ctr" rotWithShape="0">
              <a:prstClr val="black">
                <a:alpha val="3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EC017F-90F6-21FE-8CF7-CEAE5648E720}"/>
              </a:ext>
            </a:extLst>
          </p:cNvPr>
          <p:cNvSpPr txBox="1"/>
          <p:nvPr/>
        </p:nvSpPr>
        <p:spPr>
          <a:xfrm>
            <a:off x="-776748" y="158779"/>
            <a:ext cx="118872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5400" b="1" dirty="0">
                <a:latin typeface="Tw Cen MT" panose="020B0602020104020603" pitchFamily="34" charset="0"/>
              </a:rPr>
              <a:t>Feature Relationships </a:t>
            </a:r>
          </a:p>
          <a:p>
            <a:pPr algn="ctr"/>
            <a:r>
              <a:rPr lang="en-GB" sz="5400" b="1" dirty="0">
                <a:latin typeface="Tw Cen MT" panose="020B0602020104020603" pitchFamily="34" charset="0"/>
              </a:rPr>
              <a:t>(Pair-plot Visual)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362D68-2B17-3DED-0F0C-B48B42CCA6A7}"/>
              </a:ext>
            </a:extLst>
          </p:cNvPr>
          <p:cNvSpPr txBox="1"/>
          <p:nvPr/>
        </p:nvSpPr>
        <p:spPr>
          <a:xfrm>
            <a:off x="194515" y="1925485"/>
            <a:ext cx="10297652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Tw Cen MT" panose="020B0602020104020603" pitchFamily="34" charset="0"/>
              </a:rPr>
              <a:t>Visual Evidence:</a:t>
            </a:r>
          </a:p>
          <a:p>
            <a:r>
              <a:rPr lang="en-US" sz="3600" dirty="0">
                <a:latin typeface="Tw Cen MT" panose="020B0602020104020603" pitchFamily="34" charset="0"/>
              </a:rPr>
              <a:t>Rooms vs. Price: Confirmed a positive, linear relationship between room counts and log transformation for price. </a:t>
            </a:r>
          </a:p>
          <a:p>
            <a:r>
              <a:rPr lang="en-US" sz="3600" dirty="0">
                <a:latin typeface="Tw Cen MT" panose="020B0602020104020603" pitchFamily="34" charset="0"/>
              </a:rPr>
              <a:t>Rooms vs. Rooms: Clearly showed the tight, positive correlation between bedrooms and bathrooms (the root cause of the VIF problem).</a:t>
            </a:r>
            <a:endParaRPr lang="en-GB" sz="3600" dirty="0">
              <a:latin typeface="Tw Cen MT" panose="020B06020201040206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9139296"/>
      </p:ext>
    </p:extLst>
  </p:cSld>
  <p:clrMapOvr>
    <a:masterClrMapping/>
  </p:clrMapOvr>
  <p:transition>
    <p:wipe dir="r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B9CF702-2371-E5C5-8E7C-96B26CDD2C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C5D74EFB-6213-CCB5-7F53-46AB89CFC796}"/>
              </a:ext>
            </a:extLst>
          </p:cNvPr>
          <p:cNvSpPr/>
          <p:nvPr/>
        </p:nvSpPr>
        <p:spPr>
          <a:xfrm>
            <a:off x="-194515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215900" dist="38100" sx="101000" sy="101000" algn="ctr" rotWithShape="0">
              <a:prstClr val="black">
                <a:alpha val="3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 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5E791FA-5602-13A0-2663-2790C3AF0F77}"/>
              </a:ext>
            </a:extLst>
          </p:cNvPr>
          <p:cNvSpPr/>
          <p:nvPr/>
        </p:nvSpPr>
        <p:spPr>
          <a:xfrm>
            <a:off x="-40991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215900" dist="38100" sx="101000" sy="101000" algn="ctr" rotWithShape="0">
              <a:prstClr val="black">
                <a:alpha val="3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 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652E83F-FD5E-ADF5-4DAA-052662F19B79}"/>
              </a:ext>
            </a:extLst>
          </p:cNvPr>
          <p:cNvSpPr/>
          <p:nvPr/>
        </p:nvSpPr>
        <p:spPr>
          <a:xfrm>
            <a:off x="-678646" y="-1238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215900" dist="38100" sx="101000" sy="101000" algn="ctr" rotWithShape="0">
              <a:prstClr val="black">
                <a:alpha val="3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 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0559CE0-118A-87A9-97CE-C166C68CC8A8}"/>
              </a:ext>
            </a:extLst>
          </p:cNvPr>
          <p:cNvSpPr/>
          <p:nvPr/>
        </p:nvSpPr>
        <p:spPr>
          <a:xfrm>
            <a:off x="-968500" y="1067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215900" dist="38100" sx="101000" sy="101000" algn="ctr" rotWithShape="0">
              <a:prstClr val="black">
                <a:alpha val="3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 </a:t>
            </a:r>
          </a:p>
        </p:txBody>
      </p:sp>
      <p:pic>
        <p:nvPicPr>
          <p:cNvPr id="7" name="Picture 6" descr="A graph of a graph showing the value of a number&#10;&#10;AI-generated content may be incorrect.">
            <a:extLst>
              <a:ext uri="{FF2B5EF4-FFF2-40B4-BE49-F238E27FC236}">
                <a16:creationId xmlns:a16="http://schemas.microsoft.com/office/drawing/2014/main" id="{0795572A-1A75-2DE6-491B-0A02C170FB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4178" y="693104"/>
            <a:ext cx="8082995" cy="6115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430413"/>
      </p:ext>
    </p:extLst>
  </p:cSld>
  <p:clrMapOvr>
    <a:masterClrMapping/>
  </p:clrMapOvr>
  <p:transition>
    <p:wipe dir="r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FEF2229-13F2-9C4D-2F4B-99D38EAFDD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TextBox 68">
            <a:extLst>
              <a:ext uri="{FF2B5EF4-FFF2-40B4-BE49-F238E27FC236}">
                <a16:creationId xmlns:a16="http://schemas.microsoft.com/office/drawing/2014/main" id="{89289DC3-8E67-6FD5-DB9D-01E89FB87B45}"/>
              </a:ext>
            </a:extLst>
          </p:cNvPr>
          <p:cNvSpPr txBox="1"/>
          <p:nvPr/>
        </p:nvSpPr>
        <p:spPr>
          <a:xfrm>
            <a:off x="2356497" y="1720840"/>
            <a:ext cx="7326861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dirty="0">
                <a:latin typeface="Tw Cen MT" panose="020B0602020104020603" pitchFamily="34" charset="0"/>
              </a:rPr>
              <a:t>Results, Conclusion, and Recommendation</a:t>
            </a:r>
            <a:endParaRPr lang="en-GB" sz="7200" dirty="0">
              <a:latin typeface="Tw Cen MT" panose="020B06020201040206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0109968"/>
      </p:ext>
    </p:extLst>
  </p:cSld>
  <p:clrMapOvr>
    <a:masterClrMapping/>
  </p:clrMapOvr>
  <p:transition>
    <p:wipe dir="r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56BFD3-8994-3CE2-EAB5-AC82D07BB6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C5115265-4A1A-2EAB-6D9A-0C755E444E1C}"/>
              </a:ext>
            </a:extLst>
          </p:cNvPr>
          <p:cNvSpPr/>
          <p:nvPr/>
        </p:nvSpPr>
        <p:spPr>
          <a:xfrm>
            <a:off x="-194515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215900" dist="38100" sx="101000" sy="101000" algn="ctr" rotWithShape="0">
              <a:prstClr val="black">
                <a:alpha val="3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 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7D71A1D-192D-4111-3C47-327B8D540F9A}"/>
              </a:ext>
            </a:extLst>
          </p:cNvPr>
          <p:cNvSpPr/>
          <p:nvPr/>
        </p:nvSpPr>
        <p:spPr>
          <a:xfrm>
            <a:off x="-40991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215900" dist="38100" sx="101000" sy="101000" algn="ctr" rotWithShape="0">
              <a:prstClr val="black">
                <a:alpha val="3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 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9C35F6E-BE45-559B-B569-D468380D46D5}"/>
              </a:ext>
            </a:extLst>
          </p:cNvPr>
          <p:cNvSpPr/>
          <p:nvPr/>
        </p:nvSpPr>
        <p:spPr>
          <a:xfrm>
            <a:off x="-678646" y="-1238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215900" dist="38100" sx="101000" sy="101000" algn="ctr" rotWithShape="0">
              <a:prstClr val="black">
                <a:alpha val="3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 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D6F82D2-F095-1F22-172B-5CAAEEADC597}"/>
              </a:ext>
            </a:extLst>
          </p:cNvPr>
          <p:cNvSpPr/>
          <p:nvPr/>
        </p:nvSpPr>
        <p:spPr>
          <a:xfrm>
            <a:off x="-968500" y="1067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215900" dist="38100" sx="101000" sy="101000" algn="ctr" rotWithShape="0">
              <a:prstClr val="black">
                <a:alpha val="3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69987F1-2636-0B88-7A1D-3EF4CF4233E3}"/>
              </a:ext>
            </a:extLst>
          </p:cNvPr>
          <p:cNvSpPr txBox="1"/>
          <p:nvPr/>
        </p:nvSpPr>
        <p:spPr>
          <a:xfrm>
            <a:off x="530942" y="355868"/>
            <a:ext cx="844594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000" b="1" dirty="0">
                <a:latin typeface="Tw Cen MT" panose="020B0602020104020603" pitchFamily="34" charset="0"/>
              </a:rPr>
              <a:t>Final Linear Regression Performance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3B0ED29-357F-1DB6-EC28-EC044F1D5B54}"/>
              </a:ext>
            </a:extLst>
          </p:cNvPr>
          <p:cNvSpPr txBox="1"/>
          <p:nvPr/>
        </p:nvSpPr>
        <p:spPr>
          <a:xfrm>
            <a:off x="409910" y="948119"/>
            <a:ext cx="10036718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Tw Cen MT" panose="020B0602020104020603" pitchFamily="34" charset="0"/>
              </a:rPr>
              <a:t>Goal: Predict house price.</a:t>
            </a:r>
          </a:p>
          <a:p>
            <a:r>
              <a:rPr lang="en-US" sz="3600" dirty="0">
                <a:latin typeface="Tw Cen MT" panose="020B0602020104020603" pitchFamily="34" charset="0"/>
              </a:rPr>
              <a:t>Performance Metrics:</a:t>
            </a:r>
          </a:p>
          <a:p>
            <a:r>
              <a:rPr lang="en-US" sz="3600" dirty="0">
                <a:latin typeface="Tw Cen MT" panose="020B0602020104020603" pitchFamily="34" charset="0"/>
              </a:rPr>
              <a:t>Mean Absolute Error (MAE): 64,921,953 (Prediction is off by 65 million on average).</a:t>
            </a:r>
          </a:p>
          <a:p>
            <a:r>
              <a:rPr lang="en-US" sz="3600" dirty="0">
                <a:latin typeface="Tw Cen MT" panose="020B0602020104020603" pitchFamily="34" charset="0"/>
              </a:rPr>
              <a:t>R-squared Score: {0.1827} (18.27%)</a:t>
            </a:r>
          </a:p>
          <a:p>
            <a:r>
              <a:rPr lang="en-US" sz="3600" dirty="0">
                <a:latin typeface="Tw Cen MT" panose="020B0602020104020603" pitchFamily="34" charset="0"/>
              </a:rPr>
              <a:t>Despite extensive cleaning and VIF correction, the is too low. The model only explains18 of the price variance, making it unacceptable for reliable price prediction.</a:t>
            </a:r>
            <a:endParaRPr lang="en-GB" sz="3600" dirty="0">
              <a:latin typeface="Tw Cen MT" panose="020B06020201040206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2434312"/>
      </p:ext>
    </p:extLst>
  </p:cSld>
  <p:clrMapOvr>
    <a:masterClrMapping/>
  </p:clrMapOvr>
  <p:transition>
    <p:wipe dir="r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B371362-DF36-148E-2026-600FCD7EC7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C44063C1-CDAE-98F7-73BB-734AFE5C8B61}"/>
              </a:ext>
            </a:extLst>
          </p:cNvPr>
          <p:cNvSpPr/>
          <p:nvPr/>
        </p:nvSpPr>
        <p:spPr>
          <a:xfrm>
            <a:off x="-194515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215900" dist="38100" sx="101000" sy="101000" algn="ctr" rotWithShape="0">
              <a:prstClr val="black">
                <a:alpha val="3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 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3AB7153-76FB-8A4B-94CB-F2D6FBCCF7B1}"/>
              </a:ext>
            </a:extLst>
          </p:cNvPr>
          <p:cNvSpPr/>
          <p:nvPr/>
        </p:nvSpPr>
        <p:spPr>
          <a:xfrm>
            <a:off x="-40991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215900" dist="38100" sx="101000" sy="101000" algn="ctr" rotWithShape="0">
              <a:prstClr val="black">
                <a:alpha val="3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 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7914169-1565-5CBF-7C37-EC6CAF6E62BF}"/>
              </a:ext>
            </a:extLst>
          </p:cNvPr>
          <p:cNvSpPr/>
          <p:nvPr/>
        </p:nvSpPr>
        <p:spPr>
          <a:xfrm>
            <a:off x="-678646" y="-1238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215900" dist="38100" sx="101000" sy="101000" algn="ctr" rotWithShape="0">
              <a:prstClr val="black">
                <a:alpha val="3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669A3CA-36D2-0D3F-ED49-12FF08CCE75A}"/>
              </a:ext>
            </a:extLst>
          </p:cNvPr>
          <p:cNvSpPr txBox="1"/>
          <p:nvPr/>
        </p:nvSpPr>
        <p:spPr>
          <a:xfrm rot="16200000">
            <a:off x="10504600" y="3296126"/>
            <a:ext cx="169208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b="1" dirty="0">
                <a:solidFill>
                  <a:schemeClr val="bg1"/>
                </a:solidFill>
                <a:latin typeface="Tw Cen MT" panose="020B0602020104020603" pitchFamily="34" charset="0"/>
                <a:cs typeface="Arial" panose="020B0604020202020204" pitchFamily="34" charset="0"/>
              </a:rPr>
              <a:t>The Pule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076D58F-0476-5E29-44D5-F284408BF620}"/>
              </a:ext>
            </a:extLst>
          </p:cNvPr>
          <p:cNvSpPr txBox="1"/>
          <p:nvPr/>
        </p:nvSpPr>
        <p:spPr>
          <a:xfrm>
            <a:off x="1498045" y="291739"/>
            <a:ext cx="919591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latin typeface="Tw Cen MT" panose="020B0602020104020603" pitchFamily="34" charset="0"/>
              </a:rPr>
              <a:t>Key Insights: The Reliable Coefficients)</a:t>
            </a:r>
            <a:endParaRPr lang="en-GB" sz="4000" b="1" dirty="0">
              <a:latin typeface="Tw Cen MT" panose="020B06020201040206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B3ED18-F96B-E756-A8B2-D3EABFFAE977}"/>
              </a:ext>
            </a:extLst>
          </p:cNvPr>
          <p:cNvSpPr txBox="1"/>
          <p:nvPr/>
        </p:nvSpPr>
        <p:spPr>
          <a:xfrm>
            <a:off x="1924984" y="999625"/>
            <a:ext cx="8558554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Tw Cen MT" panose="020B0602020104020603" pitchFamily="34" charset="0"/>
              </a:rPr>
              <a:t>State Impact (Negative Coefficients): The model confirms that most states have a significantly lower price impact compared to the reference (Lagos/Abuja).</a:t>
            </a:r>
          </a:p>
          <a:p>
            <a:r>
              <a:rPr lang="en-US" sz="3200" dirty="0">
                <a:latin typeface="Tw Cen MT" panose="020B0602020104020603" pitchFamily="34" charset="0"/>
              </a:rPr>
              <a:t>Strongest Negative Drivers: Plateau, Cross River, Kwara.</a:t>
            </a:r>
          </a:p>
          <a:p>
            <a:r>
              <a:rPr lang="en-US" sz="3200" dirty="0">
                <a:latin typeface="Tw Cen MT" panose="020B0602020104020603" pitchFamily="34" charset="0"/>
              </a:rPr>
              <a:t>Property Type Impact: Property types like Detached Bungalow and Semi-Detached Bungalow also exert a strong negative pressure on the price compared to Block of Flats or Detached Duplexes.</a:t>
            </a:r>
            <a:endParaRPr lang="en-GB" sz="3200" dirty="0">
              <a:latin typeface="Tw Cen MT" panose="020B06020201040206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6543237"/>
      </p:ext>
    </p:extLst>
  </p:cSld>
  <p:clrMapOvr>
    <a:masterClrMapping/>
  </p:clrMapOvr>
  <p:transition>
    <p:wipe dir="r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342E62-F3DC-EF74-647B-1E8AC82514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ADF2CB8A-C41C-4858-874E-36E540CBF413}"/>
              </a:ext>
            </a:extLst>
          </p:cNvPr>
          <p:cNvSpPr/>
          <p:nvPr/>
        </p:nvSpPr>
        <p:spPr>
          <a:xfrm>
            <a:off x="-194515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215900" dist="38100" sx="101000" sy="101000" algn="ctr" rotWithShape="0">
              <a:prstClr val="black">
                <a:alpha val="3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 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CE9A016-B37B-1638-9F36-8C859F9B68F6}"/>
              </a:ext>
            </a:extLst>
          </p:cNvPr>
          <p:cNvSpPr/>
          <p:nvPr/>
        </p:nvSpPr>
        <p:spPr>
          <a:xfrm>
            <a:off x="-40991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215900" dist="38100" sx="101000" sy="101000" algn="ctr" rotWithShape="0">
              <a:prstClr val="black">
                <a:alpha val="3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 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5C5C0A8-233F-C473-778A-6D6E318EEFF8}"/>
              </a:ext>
            </a:extLst>
          </p:cNvPr>
          <p:cNvSpPr/>
          <p:nvPr/>
        </p:nvSpPr>
        <p:spPr>
          <a:xfrm>
            <a:off x="-968500" y="1067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215900" dist="38100" sx="101000" sy="101000" algn="ctr" rotWithShape="0">
              <a:prstClr val="black">
                <a:alpha val="3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1E9812D-157D-B99C-0E65-7C919A76FD7E}"/>
              </a:ext>
            </a:extLst>
          </p:cNvPr>
          <p:cNvSpPr txBox="1"/>
          <p:nvPr/>
        </p:nvSpPr>
        <p:spPr>
          <a:xfrm>
            <a:off x="1498045" y="291739"/>
            <a:ext cx="919591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latin typeface="Tw Cen MT" panose="020B0602020104020603" pitchFamily="34" charset="0"/>
              </a:rPr>
              <a:t>Recommendation &amp; Future Work</a:t>
            </a:r>
            <a:endParaRPr lang="en-GB" sz="4000" b="1" dirty="0">
              <a:latin typeface="Tw Cen MT" panose="020B06020201040206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73DBFDF-3A2E-0EB9-9D93-27D9DBC97180}"/>
              </a:ext>
            </a:extLst>
          </p:cNvPr>
          <p:cNvSpPr txBox="1"/>
          <p:nvPr/>
        </p:nvSpPr>
        <p:spPr>
          <a:xfrm>
            <a:off x="1924984" y="999625"/>
            <a:ext cx="8558554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Tw Cen MT" panose="020B0602020104020603" pitchFamily="34" charset="0"/>
              </a:rPr>
              <a:t>The Model is Wrong, Not the Data: The poor R-Square is not a data problem, but a Model Selection Problem. House pricing is a highly non-linear problem.</a:t>
            </a:r>
          </a:p>
          <a:p>
            <a:endParaRPr lang="en-US" sz="3200" dirty="0">
              <a:latin typeface="Tw Cen MT" panose="020B0602020104020603" pitchFamily="34" charset="0"/>
            </a:endParaRPr>
          </a:p>
          <a:p>
            <a:r>
              <a:rPr lang="en-US" sz="3200" dirty="0">
                <a:latin typeface="Tw Cen MT" panose="020B0602020104020603" pitchFamily="34" charset="0"/>
              </a:rPr>
              <a:t>Recommendation: Move to a Non-Linear Model.</a:t>
            </a:r>
            <a:endParaRPr lang="en-GB" sz="3200" dirty="0">
              <a:latin typeface="Tw Cen MT" panose="020B06020201040206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5617315"/>
      </p:ext>
    </p:extLst>
  </p:cSld>
  <p:clrMapOvr>
    <a:masterClrMapping/>
  </p:clrMapOvr>
  <p:transition>
    <p:wipe dir="r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DC9A82-3CF4-6E49-7245-A537825D7F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5C77A55A-0FA7-A8F3-650F-2B54C6597B24}"/>
              </a:ext>
            </a:extLst>
          </p:cNvPr>
          <p:cNvSpPr/>
          <p:nvPr/>
        </p:nvSpPr>
        <p:spPr>
          <a:xfrm>
            <a:off x="-194515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215900" dist="38100" sx="101000" sy="101000" algn="ctr" rotWithShape="0">
              <a:prstClr val="black">
                <a:alpha val="3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 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1C78A1F-D53B-C826-30F5-E4516A3B92CF}"/>
              </a:ext>
            </a:extLst>
          </p:cNvPr>
          <p:cNvSpPr/>
          <p:nvPr/>
        </p:nvSpPr>
        <p:spPr>
          <a:xfrm>
            <a:off x="-40991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215900" dist="38100" sx="101000" sy="101000" algn="ctr" rotWithShape="0">
              <a:prstClr val="black">
                <a:alpha val="3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 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C0E872D-F3D1-2F9B-76FA-1F5D42FFC13A}"/>
              </a:ext>
            </a:extLst>
          </p:cNvPr>
          <p:cNvSpPr/>
          <p:nvPr/>
        </p:nvSpPr>
        <p:spPr>
          <a:xfrm>
            <a:off x="-678646" y="-1238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215900" dist="38100" sx="101000" sy="101000" algn="ctr" rotWithShape="0">
              <a:prstClr val="black">
                <a:alpha val="3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 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E283739-F4AA-404F-EBB3-81734FDFA937}"/>
              </a:ext>
            </a:extLst>
          </p:cNvPr>
          <p:cNvSpPr/>
          <p:nvPr/>
        </p:nvSpPr>
        <p:spPr>
          <a:xfrm>
            <a:off x="-968500" y="1067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215900" dist="38100" sx="101000" sy="101000" algn="ctr" rotWithShape="0">
              <a:prstClr val="black">
                <a:alpha val="3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A8B9828-4C83-2A22-02D2-AD9A946BA280}"/>
              </a:ext>
            </a:extLst>
          </p:cNvPr>
          <p:cNvSpPr txBox="1"/>
          <p:nvPr/>
        </p:nvSpPr>
        <p:spPr>
          <a:xfrm>
            <a:off x="1498045" y="291739"/>
            <a:ext cx="919591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latin typeface="Tw Cen MT" panose="020B0602020104020603" pitchFamily="34" charset="0"/>
              </a:rPr>
              <a:t>Recommendation &amp; Future Work</a:t>
            </a:r>
            <a:endParaRPr lang="en-GB" sz="4000" b="1" dirty="0">
              <a:latin typeface="Tw Cen MT" panose="020B06020201040206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59C5B5-4224-C96D-3E8D-60D0DCDFB18D}"/>
              </a:ext>
            </a:extLst>
          </p:cNvPr>
          <p:cNvSpPr txBox="1"/>
          <p:nvPr/>
        </p:nvSpPr>
        <p:spPr>
          <a:xfrm>
            <a:off x="194515" y="999625"/>
            <a:ext cx="10289023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Tw Cen MT" panose="020B0602020104020603" pitchFamily="34" charset="0"/>
              </a:rPr>
              <a:t>New Target Model: </a:t>
            </a:r>
          </a:p>
          <a:p>
            <a:r>
              <a:rPr lang="en-US" sz="3200" dirty="0">
                <a:latin typeface="Tw Cen MT" panose="020B0602020104020603" pitchFamily="34" charset="0"/>
              </a:rPr>
              <a:t>Random Forest Regressor or Gradient Boosting Regressor.</a:t>
            </a:r>
          </a:p>
          <a:p>
            <a:r>
              <a:rPr lang="en-US" sz="3200" b="1" dirty="0">
                <a:latin typeface="Tw Cen MT" panose="020B0602020104020603" pitchFamily="34" charset="0"/>
              </a:rPr>
              <a:t>Why: </a:t>
            </a:r>
            <a:r>
              <a:rPr lang="en-US" sz="3200" dirty="0">
                <a:latin typeface="Tw Cen MT" panose="020B0602020104020603" pitchFamily="34" charset="0"/>
              </a:rPr>
              <a:t>These models do not require VIF checks and are superior at capturing complex, non-linear feature interactions, which should push the R-square significantly higher (0.70).</a:t>
            </a:r>
          </a:p>
          <a:p>
            <a:r>
              <a:rPr lang="en-US" sz="3200" b="1" dirty="0">
                <a:latin typeface="Tw Cen MT" panose="020B0602020104020603" pitchFamily="34" charset="0"/>
              </a:rPr>
              <a:t>Future Feature Engineering: </a:t>
            </a:r>
            <a:r>
              <a:rPr lang="en-US" sz="3200" dirty="0">
                <a:latin typeface="Tw Cen MT" panose="020B0602020104020603" pitchFamily="34" charset="0"/>
              </a:rPr>
              <a:t>Include features like Town/Neighborhood, Age of House, and Amenities for a more accurate model.</a:t>
            </a:r>
            <a:endParaRPr lang="en-GB" sz="3200" dirty="0">
              <a:latin typeface="Tw Cen MT" panose="020B06020201040206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5294457"/>
      </p:ext>
    </p:extLst>
  </p:cSld>
  <p:clrMapOvr>
    <a:masterClrMapping/>
  </p:clrMapOvr>
  <p:transition>
    <p:wipe dir="r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F50506C-FF11-CBDE-FF86-1603EA4E44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6D90F486-962E-9892-B747-5244B679BF00}"/>
              </a:ext>
            </a:extLst>
          </p:cNvPr>
          <p:cNvGrpSpPr/>
          <p:nvPr/>
        </p:nvGrpSpPr>
        <p:grpSpPr>
          <a:xfrm>
            <a:off x="11277570" y="2590800"/>
            <a:ext cx="960120" cy="1859280"/>
            <a:chOff x="11292840" y="2575560"/>
            <a:chExt cx="960120" cy="1859280"/>
          </a:xfrm>
          <a:solidFill>
            <a:schemeClr val="bg2">
              <a:lumMod val="10000"/>
            </a:schemeClr>
          </a:solidFill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CA374501-0C7C-03C9-0C8D-B33F65C1F6F5}"/>
                </a:ext>
              </a:extLst>
            </p:cNvPr>
            <p:cNvSpPr/>
            <p:nvPr/>
          </p:nvSpPr>
          <p:spPr>
            <a:xfrm>
              <a:off x="11292840" y="2575560"/>
              <a:ext cx="960120" cy="1859280"/>
            </a:xfrm>
            <a:custGeom>
              <a:avLst/>
              <a:gdLst>
                <a:gd name="connsiteX0" fmla="*/ 929640 w 960120"/>
                <a:gd name="connsiteY0" fmla="*/ 0 h 1859280"/>
                <a:gd name="connsiteX1" fmla="*/ 960120 w 960120"/>
                <a:gd name="connsiteY1" fmla="*/ 3073 h 1859280"/>
                <a:gd name="connsiteX2" fmla="*/ 960120 w 960120"/>
                <a:gd name="connsiteY2" fmla="*/ 1856207 h 1859280"/>
                <a:gd name="connsiteX3" fmla="*/ 929640 w 960120"/>
                <a:gd name="connsiteY3" fmla="*/ 1859280 h 1859280"/>
                <a:gd name="connsiteX4" fmla="*/ 0 w 960120"/>
                <a:gd name="connsiteY4" fmla="*/ 929640 h 1859280"/>
                <a:gd name="connsiteX5" fmla="*/ 929640 w 960120"/>
                <a:gd name="connsiteY5" fmla="*/ 0 h 1859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60120" h="1859280">
                  <a:moveTo>
                    <a:pt x="929640" y="0"/>
                  </a:moveTo>
                  <a:lnTo>
                    <a:pt x="960120" y="3073"/>
                  </a:lnTo>
                  <a:lnTo>
                    <a:pt x="960120" y="1856207"/>
                  </a:lnTo>
                  <a:lnTo>
                    <a:pt x="929640" y="1859280"/>
                  </a:lnTo>
                  <a:cubicBezTo>
                    <a:pt x="416214" y="1859280"/>
                    <a:pt x="0" y="1443066"/>
                    <a:pt x="0" y="929640"/>
                  </a:cubicBezTo>
                  <a:cubicBezTo>
                    <a:pt x="0" y="416214"/>
                    <a:pt x="416214" y="0"/>
                    <a:pt x="929640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GB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797FAB6A-BEB1-8E30-812B-C1A041942C45}"/>
                </a:ext>
              </a:extLst>
            </p:cNvPr>
            <p:cNvSpPr txBox="1"/>
            <p:nvPr/>
          </p:nvSpPr>
          <p:spPr>
            <a:xfrm rot="16200000">
              <a:off x="11132275" y="3262639"/>
              <a:ext cx="169926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2400" b="1" dirty="0">
                  <a:solidFill>
                    <a:schemeClr val="bg1"/>
                  </a:solidFill>
                  <a:latin typeface="Tw Cen MT" panose="020B0602020104020603" pitchFamily="34" charset="0"/>
                  <a:cs typeface="Arial" panose="020B0604020202020204" pitchFamily="34" charset="0"/>
                </a:rPr>
                <a:t>Welcome</a:t>
              </a:r>
              <a:r>
                <a:rPr lang="en-GB" sz="2800" b="1" dirty="0">
                  <a:solidFill>
                    <a:schemeClr val="bg1"/>
                  </a:solidFill>
                  <a:latin typeface="Tw Cen MT" panose="020B0602020104020603" pitchFamily="34" charset="0"/>
                  <a:cs typeface="Arial" panose="020B0604020202020204" pitchFamily="34" charset="0"/>
                </a:rPr>
                <a:t> </a:t>
              </a:r>
            </a:p>
          </p:txBody>
        </p: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CB1047CD-8D60-B266-4C08-A07154DB254F}"/>
              </a:ext>
            </a:extLst>
          </p:cNvPr>
          <p:cNvSpPr/>
          <p:nvPr/>
        </p:nvSpPr>
        <p:spPr>
          <a:xfrm>
            <a:off x="8681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215900" dist="38100" sx="101000" sy="101000" algn="ctr" rotWithShape="0">
              <a:prstClr val="black">
                <a:alpha val="3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 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B560AED-27D7-2088-F4DF-F59A7D9073B6}"/>
              </a:ext>
            </a:extLst>
          </p:cNvPr>
          <p:cNvGrpSpPr/>
          <p:nvPr/>
        </p:nvGrpSpPr>
        <p:grpSpPr>
          <a:xfrm>
            <a:off x="11240561" y="2575560"/>
            <a:ext cx="994690" cy="1859280"/>
            <a:chOff x="11231880" y="2575560"/>
            <a:chExt cx="994690" cy="1859280"/>
          </a:xfrm>
          <a:solidFill>
            <a:srgbClr val="252525"/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7FBEADCD-35F6-6699-A138-DFCAE8306B02}"/>
                </a:ext>
              </a:extLst>
            </p:cNvPr>
            <p:cNvSpPr/>
            <p:nvPr/>
          </p:nvSpPr>
          <p:spPr>
            <a:xfrm>
              <a:off x="11231880" y="2575560"/>
              <a:ext cx="960120" cy="1859280"/>
            </a:xfrm>
            <a:custGeom>
              <a:avLst/>
              <a:gdLst>
                <a:gd name="connsiteX0" fmla="*/ 929640 w 960120"/>
                <a:gd name="connsiteY0" fmla="*/ 0 h 1859280"/>
                <a:gd name="connsiteX1" fmla="*/ 960120 w 960120"/>
                <a:gd name="connsiteY1" fmla="*/ 3073 h 1859280"/>
                <a:gd name="connsiteX2" fmla="*/ 960120 w 960120"/>
                <a:gd name="connsiteY2" fmla="*/ 1856207 h 1859280"/>
                <a:gd name="connsiteX3" fmla="*/ 929640 w 960120"/>
                <a:gd name="connsiteY3" fmla="*/ 1859280 h 1859280"/>
                <a:gd name="connsiteX4" fmla="*/ 0 w 960120"/>
                <a:gd name="connsiteY4" fmla="*/ 929640 h 1859280"/>
                <a:gd name="connsiteX5" fmla="*/ 929640 w 960120"/>
                <a:gd name="connsiteY5" fmla="*/ 0 h 1859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60120" h="1859280">
                  <a:moveTo>
                    <a:pt x="929640" y="0"/>
                  </a:moveTo>
                  <a:lnTo>
                    <a:pt x="960120" y="3073"/>
                  </a:lnTo>
                  <a:lnTo>
                    <a:pt x="960120" y="1856207"/>
                  </a:lnTo>
                  <a:lnTo>
                    <a:pt x="929640" y="1859280"/>
                  </a:lnTo>
                  <a:cubicBezTo>
                    <a:pt x="416214" y="1859280"/>
                    <a:pt x="0" y="1443066"/>
                    <a:pt x="0" y="929640"/>
                  </a:cubicBezTo>
                  <a:cubicBezTo>
                    <a:pt x="0" y="416214"/>
                    <a:pt x="416214" y="0"/>
                    <a:pt x="929640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GB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029D3160-21CC-FCB2-3623-B67624BDB2DC}"/>
                </a:ext>
              </a:extLst>
            </p:cNvPr>
            <p:cNvSpPr txBox="1"/>
            <p:nvPr/>
          </p:nvSpPr>
          <p:spPr>
            <a:xfrm rot="16200000">
              <a:off x="11207588" y="3308730"/>
              <a:ext cx="163785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2000" b="1" dirty="0">
                  <a:solidFill>
                    <a:schemeClr val="bg1"/>
                  </a:solidFill>
                  <a:latin typeface="Tw Cen MT" panose="020B0602020104020603" pitchFamily="34" charset="0"/>
                  <a:cs typeface="Arial" panose="020B0604020202020204" pitchFamily="34" charset="0"/>
                </a:rPr>
                <a:t>The Journey</a:t>
              </a:r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9DAA2851-314D-FEAC-2B2E-787C1B83952D}"/>
              </a:ext>
            </a:extLst>
          </p:cNvPr>
          <p:cNvSpPr/>
          <p:nvPr/>
        </p:nvSpPr>
        <p:spPr>
          <a:xfrm>
            <a:off x="-90602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215900" dist="38100" sx="101000" sy="101000" algn="ctr" rotWithShape="0">
              <a:prstClr val="black">
                <a:alpha val="3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 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B1989272-B5AF-7CD4-4A30-9F6E21344F5E}"/>
              </a:ext>
            </a:extLst>
          </p:cNvPr>
          <p:cNvGrpSpPr/>
          <p:nvPr/>
        </p:nvGrpSpPr>
        <p:grpSpPr>
          <a:xfrm>
            <a:off x="11141278" y="2575560"/>
            <a:ext cx="960120" cy="1859280"/>
            <a:chOff x="11231880" y="2575560"/>
            <a:chExt cx="960120" cy="1859280"/>
          </a:xfrm>
          <a:solidFill>
            <a:schemeClr val="bg2">
              <a:lumMod val="25000"/>
            </a:schemeClr>
          </a:solidFill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B21DBB7-9991-E852-BC4C-36D287C30C4F}"/>
                </a:ext>
              </a:extLst>
            </p:cNvPr>
            <p:cNvSpPr/>
            <p:nvPr/>
          </p:nvSpPr>
          <p:spPr>
            <a:xfrm>
              <a:off x="11231880" y="2575560"/>
              <a:ext cx="960120" cy="1859280"/>
            </a:xfrm>
            <a:custGeom>
              <a:avLst/>
              <a:gdLst>
                <a:gd name="connsiteX0" fmla="*/ 929640 w 960120"/>
                <a:gd name="connsiteY0" fmla="*/ 0 h 1859280"/>
                <a:gd name="connsiteX1" fmla="*/ 960120 w 960120"/>
                <a:gd name="connsiteY1" fmla="*/ 3073 h 1859280"/>
                <a:gd name="connsiteX2" fmla="*/ 960120 w 960120"/>
                <a:gd name="connsiteY2" fmla="*/ 1856207 h 1859280"/>
                <a:gd name="connsiteX3" fmla="*/ 929640 w 960120"/>
                <a:gd name="connsiteY3" fmla="*/ 1859280 h 1859280"/>
                <a:gd name="connsiteX4" fmla="*/ 0 w 960120"/>
                <a:gd name="connsiteY4" fmla="*/ 929640 h 1859280"/>
                <a:gd name="connsiteX5" fmla="*/ 929640 w 960120"/>
                <a:gd name="connsiteY5" fmla="*/ 0 h 1859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60120" h="1859280">
                  <a:moveTo>
                    <a:pt x="929640" y="0"/>
                  </a:moveTo>
                  <a:lnTo>
                    <a:pt x="960120" y="3073"/>
                  </a:lnTo>
                  <a:lnTo>
                    <a:pt x="960120" y="1856207"/>
                  </a:lnTo>
                  <a:lnTo>
                    <a:pt x="929640" y="1859280"/>
                  </a:lnTo>
                  <a:cubicBezTo>
                    <a:pt x="416214" y="1859280"/>
                    <a:pt x="0" y="1443066"/>
                    <a:pt x="0" y="929640"/>
                  </a:cubicBezTo>
                  <a:cubicBezTo>
                    <a:pt x="0" y="416214"/>
                    <a:pt x="416214" y="0"/>
                    <a:pt x="929640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GB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DF5164C8-DA0E-F91E-4658-85DB241E303A}"/>
                </a:ext>
              </a:extLst>
            </p:cNvPr>
            <p:cNvSpPr txBox="1"/>
            <p:nvPr/>
          </p:nvSpPr>
          <p:spPr>
            <a:xfrm rot="16200000">
              <a:off x="11200279" y="3298644"/>
              <a:ext cx="1577341" cy="40011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2000" b="1" dirty="0">
                  <a:solidFill>
                    <a:schemeClr val="bg1"/>
                  </a:solidFill>
                  <a:latin typeface="Tw Cen MT" panose="020B0602020104020603" pitchFamily="34" charset="0"/>
                  <a:cs typeface="Arial" panose="020B0604020202020204" pitchFamily="34" charset="0"/>
                </a:rPr>
                <a:t>The Data </a:t>
              </a:r>
            </a:p>
          </p:txBody>
        </p: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3958BBDC-AA61-1852-69D8-564EA42C5A51}"/>
              </a:ext>
            </a:extLst>
          </p:cNvPr>
          <p:cNvSpPr/>
          <p:nvPr/>
        </p:nvSpPr>
        <p:spPr>
          <a:xfrm>
            <a:off x="-185163" y="-1238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215900" dist="38100" sx="101000" sy="101000" algn="ctr" rotWithShape="0">
              <a:prstClr val="black">
                <a:alpha val="3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 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5E617B5C-7467-C079-DB51-6E9110ABA538}"/>
              </a:ext>
            </a:extLst>
          </p:cNvPr>
          <p:cNvGrpSpPr/>
          <p:nvPr/>
        </p:nvGrpSpPr>
        <p:grpSpPr>
          <a:xfrm>
            <a:off x="11046717" y="2563180"/>
            <a:ext cx="997466" cy="1859280"/>
            <a:chOff x="11231880" y="2575560"/>
            <a:chExt cx="997466" cy="1859280"/>
          </a:xfrm>
          <a:solidFill>
            <a:schemeClr val="tx1">
              <a:lumMod val="75000"/>
              <a:lumOff val="25000"/>
            </a:schemeClr>
          </a:solidFill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88B7CECE-AF6D-8233-7E15-6C074C3D9687}"/>
                </a:ext>
              </a:extLst>
            </p:cNvPr>
            <p:cNvSpPr/>
            <p:nvPr/>
          </p:nvSpPr>
          <p:spPr>
            <a:xfrm>
              <a:off x="11231880" y="2575560"/>
              <a:ext cx="960120" cy="1859280"/>
            </a:xfrm>
            <a:custGeom>
              <a:avLst/>
              <a:gdLst>
                <a:gd name="connsiteX0" fmla="*/ 929640 w 960120"/>
                <a:gd name="connsiteY0" fmla="*/ 0 h 1859280"/>
                <a:gd name="connsiteX1" fmla="*/ 960120 w 960120"/>
                <a:gd name="connsiteY1" fmla="*/ 3073 h 1859280"/>
                <a:gd name="connsiteX2" fmla="*/ 960120 w 960120"/>
                <a:gd name="connsiteY2" fmla="*/ 1856207 h 1859280"/>
                <a:gd name="connsiteX3" fmla="*/ 929640 w 960120"/>
                <a:gd name="connsiteY3" fmla="*/ 1859280 h 1859280"/>
                <a:gd name="connsiteX4" fmla="*/ 0 w 960120"/>
                <a:gd name="connsiteY4" fmla="*/ 929640 h 1859280"/>
                <a:gd name="connsiteX5" fmla="*/ 929640 w 960120"/>
                <a:gd name="connsiteY5" fmla="*/ 0 h 1859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60120" h="1859280">
                  <a:moveTo>
                    <a:pt x="929640" y="0"/>
                  </a:moveTo>
                  <a:lnTo>
                    <a:pt x="960120" y="3073"/>
                  </a:lnTo>
                  <a:lnTo>
                    <a:pt x="960120" y="1856207"/>
                  </a:lnTo>
                  <a:lnTo>
                    <a:pt x="929640" y="1859280"/>
                  </a:lnTo>
                  <a:cubicBezTo>
                    <a:pt x="416214" y="1859280"/>
                    <a:pt x="0" y="1443066"/>
                    <a:pt x="0" y="929640"/>
                  </a:cubicBezTo>
                  <a:cubicBezTo>
                    <a:pt x="0" y="416214"/>
                    <a:pt x="416214" y="0"/>
                    <a:pt x="929640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GB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ED0FCD3-8D23-BB0B-0861-19828EBF0155}"/>
                </a:ext>
              </a:extLst>
            </p:cNvPr>
            <p:cNvSpPr txBox="1"/>
            <p:nvPr/>
          </p:nvSpPr>
          <p:spPr>
            <a:xfrm rot="16200000">
              <a:off x="11183246" y="3308506"/>
              <a:ext cx="169208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2000" b="1" dirty="0">
                  <a:solidFill>
                    <a:schemeClr val="bg1"/>
                  </a:solidFill>
                  <a:latin typeface="Tw Cen MT" panose="020B0602020104020603" pitchFamily="34" charset="0"/>
                  <a:cs typeface="Arial" panose="020B0604020202020204" pitchFamily="34" charset="0"/>
                </a:rPr>
                <a:t>The Pulse </a:t>
              </a:r>
            </a:p>
          </p:txBody>
        </p:sp>
      </p:grpSp>
      <p:sp>
        <p:nvSpPr>
          <p:cNvPr id="23" name="Rectangle 22">
            <a:extLst>
              <a:ext uri="{FF2B5EF4-FFF2-40B4-BE49-F238E27FC236}">
                <a16:creationId xmlns:a16="http://schemas.microsoft.com/office/drawing/2014/main" id="{622DEE0C-D69A-DEDD-8FE4-44F9AB753852}"/>
              </a:ext>
            </a:extLst>
          </p:cNvPr>
          <p:cNvSpPr/>
          <p:nvPr/>
        </p:nvSpPr>
        <p:spPr>
          <a:xfrm>
            <a:off x="-300842" y="1067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215900" dist="38100" sx="101000" sy="101000" algn="ctr" rotWithShape="0">
              <a:prstClr val="black">
                <a:alpha val="3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 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3E7FDDB9-EB6F-52D7-77E6-4A3DABAF871D}"/>
              </a:ext>
            </a:extLst>
          </p:cNvPr>
          <p:cNvGrpSpPr/>
          <p:nvPr/>
        </p:nvGrpSpPr>
        <p:grpSpPr>
          <a:xfrm>
            <a:off x="10931038" y="2576627"/>
            <a:ext cx="970572" cy="1859280"/>
            <a:chOff x="11231880" y="2575560"/>
            <a:chExt cx="970572" cy="1859280"/>
          </a:xfrm>
          <a:solidFill>
            <a:schemeClr val="tx1">
              <a:lumMod val="65000"/>
              <a:lumOff val="35000"/>
            </a:schemeClr>
          </a:solidFill>
        </p:grpSpPr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7E903743-BB04-FDAC-3CA9-57FF8A3BBB4B}"/>
                </a:ext>
              </a:extLst>
            </p:cNvPr>
            <p:cNvSpPr/>
            <p:nvPr/>
          </p:nvSpPr>
          <p:spPr>
            <a:xfrm>
              <a:off x="11231880" y="2575560"/>
              <a:ext cx="960120" cy="1859280"/>
            </a:xfrm>
            <a:custGeom>
              <a:avLst/>
              <a:gdLst>
                <a:gd name="connsiteX0" fmla="*/ 929640 w 960120"/>
                <a:gd name="connsiteY0" fmla="*/ 0 h 1859280"/>
                <a:gd name="connsiteX1" fmla="*/ 960120 w 960120"/>
                <a:gd name="connsiteY1" fmla="*/ 3073 h 1859280"/>
                <a:gd name="connsiteX2" fmla="*/ 960120 w 960120"/>
                <a:gd name="connsiteY2" fmla="*/ 1856207 h 1859280"/>
                <a:gd name="connsiteX3" fmla="*/ 929640 w 960120"/>
                <a:gd name="connsiteY3" fmla="*/ 1859280 h 1859280"/>
                <a:gd name="connsiteX4" fmla="*/ 0 w 960120"/>
                <a:gd name="connsiteY4" fmla="*/ 929640 h 1859280"/>
                <a:gd name="connsiteX5" fmla="*/ 929640 w 960120"/>
                <a:gd name="connsiteY5" fmla="*/ 0 h 1859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60120" h="1859280">
                  <a:moveTo>
                    <a:pt x="929640" y="0"/>
                  </a:moveTo>
                  <a:lnTo>
                    <a:pt x="960120" y="3073"/>
                  </a:lnTo>
                  <a:lnTo>
                    <a:pt x="960120" y="1856207"/>
                  </a:lnTo>
                  <a:lnTo>
                    <a:pt x="929640" y="1859280"/>
                  </a:lnTo>
                  <a:cubicBezTo>
                    <a:pt x="416214" y="1859280"/>
                    <a:pt x="0" y="1443066"/>
                    <a:pt x="0" y="929640"/>
                  </a:cubicBezTo>
                  <a:cubicBezTo>
                    <a:pt x="0" y="416214"/>
                    <a:pt x="416214" y="0"/>
                    <a:pt x="929640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GB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18E88C91-8F9B-6BCD-E79A-94523E2B0BCF}"/>
                </a:ext>
              </a:extLst>
            </p:cNvPr>
            <p:cNvSpPr txBox="1"/>
            <p:nvPr/>
          </p:nvSpPr>
          <p:spPr>
            <a:xfrm rot="16200000">
              <a:off x="11133941" y="3286093"/>
              <a:ext cx="173691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2000" b="1" dirty="0">
                  <a:solidFill>
                    <a:schemeClr val="bg1"/>
                  </a:solidFill>
                  <a:latin typeface="Tw Cen MT" panose="020B0602020104020603" pitchFamily="34" charset="0"/>
                  <a:cs typeface="Arial" panose="020B0604020202020204" pitchFamily="34" charset="0"/>
                </a:rPr>
                <a:t>Line Chart </a:t>
              </a:r>
            </a:p>
          </p:txBody>
        </p:sp>
      </p:grpSp>
      <p:sp>
        <p:nvSpPr>
          <p:cNvPr id="27" name="Rectangle 26">
            <a:extLst>
              <a:ext uri="{FF2B5EF4-FFF2-40B4-BE49-F238E27FC236}">
                <a16:creationId xmlns:a16="http://schemas.microsoft.com/office/drawing/2014/main" id="{2A31AB4C-26E7-3C1B-CDCD-699CC5CB6065}"/>
              </a:ext>
            </a:extLst>
          </p:cNvPr>
          <p:cNvSpPr/>
          <p:nvPr/>
        </p:nvSpPr>
        <p:spPr>
          <a:xfrm>
            <a:off x="-413994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215900" dist="38100" sx="101000" sy="101000" algn="ctr" rotWithShape="0">
              <a:prstClr val="black">
                <a:alpha val="3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 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476DD228-9082-7FE8-D5C3-67327FE99BE1}"/>
              </a:ext>
            </a:extLst>
          </p:cNvPr>
          <p:cNvGrpSpPr/>
          <p:nvPr/>
        </p:nvGrpSpPr>
        <p:grpSpPr>
          <a:xfrm>
            <a:off x="10817886" y="2441538"/>
            <a:ext cx="960120" cy="2143911"/>
            <a:chOff x="11231880" y="2441538"/>
            <a:chExt cx="960120" cy="2143911"/>
          </a:xfrm>
          <a:solidFill>
            <a:schemeClr val="bg2">
              <a:lumMod val="50000"/>
            </a:schemeClr>
          </a:solidFill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BFD8922A-EE18-A1A4-E399-A36EE5C1D3CB}"/>
                </a:ext>
              </a:extLst>
            </p:cNvPr>
            <p:cNvSpPr/>
            <p:nvPr/>
          </p:nvSpPr>
          <p:spPr>
            <a:xfrm>
              <a:off x="11231880" y="2575560"/>
              <a:ext cx="960120" cy="1859280"/>
            </a:xfrm>
            <a:custGeom>
              <a:avLst/>
              <a:gdLst>
                <a:gd name="connsiteX0" fmla="*/ 929640 w 960120"/>
                <a:gd name="connsiteY0" fmla="*/ 0 h 1859280"/>
                <a:gd name="connsiteX1" fmla="*/ 960120 w 960120"/>
                <a:gd name="connsiteY1" fmla="*/ 3073 h 1859280"/>
                <a:gd name="connsiteX2" fmla="*/ 960120 w 960120"/>
                <a:gd name="connsiteY2" fmla="*/ 1856207 h 1859280"/>
                <a:gd name="connsiteX3" fmla="*/ 929640 w 960120"/>
                <a:gd name="connsiteY3" fmla="*/ 1859280 h 1859280"/>
                <a:gd name="connsiteX4" fmla="*/ 0 w 960120"/>
                <a:gd name="connsiteY4" fmla="*/ 929640 h 1859280"/>
                <a:gd name="connsiteX5" fmla="*/ 929640 w 960120"/>
                <a:gd name="connsiteY5" fmla="*/ 0 h 1859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60120" h="1859280">
                  <a:moveTo>
                    <a:pt x="929640" y="0"/>
                  </a:moveTo>
                  <a:lnTo>
                    <a:pt x="960120" y="3073"/>
                  </a:lnTo>
                  <a:lnTo>
                    <a:pt x="960120" y="1856207"/>
                  </a:lnTo>
                  <a:lnTo>
                    <a:pt x="929640" y="1859280"/>
                  </a:lnTo>
                  <a:cubicBezTo>
                    <a:pt x="416214" y="1859280"/>
                    <a:pt x="0" y="1443066"/>
                    <a:pt x="0" y="929640"/>
                  </a:cubicBezTo>
                  <a:cubicBezTo>
                    <a:pt x="0" y="416214"/>
                    <a:pt x="416214" y="0"/>
                    <a:pt x="929640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GB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CB10C05A-A53B-F51B-C1A5-2C8E7D50FB03}"/>
                </a:ext>
              </a:extLst>
            </p:cNvPr>
            <p:cNvSpPr txBox="1"/>
            <p:nvPr/>
          </p:nvSpPr>
          <p:spPr>
            <a:xfrm rot="16200000">
              <a:off x="10890099" y="3313439"/>
              <a:ext cx="214391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2000" b="1" dirty="0">
                  <a:solidFill>
                    <a:schemeClr val="bg1"/>
                  </a:solidFill>
                  <a:latin typeface="Tw Cen MT" panose="020B0602020104020603" pitchFamily="34" charset="0"/>
                  <a:cs typeface="Arial" panose="020B0604020202020204" pitchFamily="34" charset="0"/>
                </a:rPr>
                <a:t>Hardest Crashes </a:t>
              </a:r>
            </a:p>
          </p:txBody>
        </p:sp>
      </p:grpSp>
      <p:sp>
        <p:nvSpPr>
          <p:cNvPr id="31" name="Rectangle 30">
            <a:extLst>
              <a:ext uri="{FF2B5EF4-FFF2-40B4-BE49-F238E27FC236}">
                <a16:creationId xmlns:a16="http://schemas.microsoft.com/office/drawing/2014/main" id="{30E3E30B-088C-00C2-C642-596DC0DCFC97}"/>
              </a:ext>
            </a:extLst>
          </p:cNvPr>
          <p:cNvSpPr/>
          <p:nvPr/>
        </p:nvSpPr>
        <p:spPr>
          <a:xfrm>
            <a:off x="-546786" y="-15498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215900" dist="38100" sx="101000" sy="101000" algn="ctr" rotWithShape="0">
              <a:prstClr val="black">
                <a:alpha val="3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 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84CCA927-F74F-A2DE-1E57-3CCEFDB21EC4}"/>
              </a:ext>
            </a:extLst>
          </p:cNvPr>
          <p:cNvGrpSpPr/>
          <p:nvPr/>
        </p:nvGrpSpPr>
        <p:grpSpPr>
          <a:xfrm>
            <a:off x="10685094" y="2444586"/>
            <a:ext cx="1016884" cy="2080001"/>
            <a:chOff x="11231880" y="2446637"/>
            <a:chExt cx="1016884" cy="2080001"/>
          </a:xfrm>
          <a:solidFill>
            <a:schemeClr val="bg2">
              <a:lumMod val="50000"/>
            </a:schemeClr>
          </a:solidFill>
        </p:grpSpPr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1F1EA841-95B8-3E56-F617-1E59F227C2CB}"/>
                </a:ext>
              </a:extLst>
            </p:cNvPr>
            <p:cNvSpPr/>
            <p:nvPr/>
          </p:nvSpPr>
          <p:spPr>
            <a:xfrm>
              <a:off x="11231880" y="2575560"/>
              <a:ext cx="960120" cy="1859280"/>
            </a:xfrm>
            <a:custGeom>
              <a:avLst/>
              <a:gdLst>
                <a:gd name="connsiteX0" fmla="*/ 929640 w 960120"/>
                <a:gd name="connsiteY0" fmla="*/ 0 h 1859280"/>
                <a:gd name="connsiteX1" fmla="*/ 960120 w 960120"/>
                <a:gd name="connsiteY1" fmla="*/ 3073 h 1859280"/>
                <a:gd name="connsiteX2" fmla="*/ 960120 w 960120"/>
                <a:gd name="connsiteY2" fmla="*/ 1856207 h 1859280"/>
                <a:gd name="connsiteX3" fmla="*/ 929640 w 960120"/>
                <a:gd name="connsiteY3" fmla="*/ 1859280 h 1859280"/>
                <a:gd name="connsiteX4" fmla="*/ 0 w 960120"/>
                <a:gd name="connsiteY4" fmla="*/ 929640 h 1859280"/>
                <a:gd name="connsiteX5" fmla="*/ 929640 w 960120"/>
                <a:gd name="connsiteY5" fmla="*/ 0 h 1859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60120" h="1859280">
                  <a:moveTo>
                    <a:pt x="929640" y="0"/>
                  </a:moveTo>
                  <a:lnTo>
                    <a:pt x="960120" y="3073"/>
                  </a:lnTo>
                  <a:lnTo>
                    <a:pt x="960120" y="1856207"/>
                  </a:lnTo>
                  <a:lnTo>
                    <a:pt x="929640" y="1859280"/>
                  </a:lnTo>
                  <a:cubicBezTo>
                    <a:pt x="416214" y="1859280"/>
                    <a:pt x="0" y="1443066"/>
                    <a:pt x="0" y="929640"/>
                  </a:cubicBezTo>
                  <a:cubicBezTo>
                    <a:pt x="0" y="416214"/>
                    <a:pt x="416214" y="0"/>
                    <a:pt x="929640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GB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996E3183-4504-6392-1578-870BC4DABD8D}"/>
                </a:ext>
              </a:extLst>
            </p:cNvPr>
            <p:cNvSpPr txBox="1"/>
            <p:nvPr/>
          </p:nvSpPr>
          <p:spPr>
            <a:xfrm rot="16200000">
              <a:off x="10854820" y="3132695"/>
              <a:ext cx="2080001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2000" b="1" dirty="0">
                  <a:solidFill>
                    <a:schemeClr val="bg1"/>
                  </a:solidFill>
                  <a:latin typeface="Tw Cen MT" panose="020B0602020104020603" pitchFamily="34" charset="0"/>
                  <a:cs typeface="Arial" panose="020B0604020202020204" pitchFamily="34" charset="0"/>
                </a:rPr>
                <a:t>State Level Impact </a:t>
              </a:r>
            </a:p>
          </p:txBody>
        </p:sp>
      </p:grpSp>
      <p:sp>
        <p:nvSpPr>
          <p:cNvPr id="35" name="Rectangle 34">
            <a:extLst>
              <a:ext uri="{FF2B5EF4-FFF2-40B4-BE49-F238E27FC236}">
                <a16:creationId xmlns:a16="http://schemas.microsoft.com/office/drawing/2014/main" id="{F348AF80-911A-535A-B04B-D5D7F1FA6838}"/>
              </a:ext>
            </a:extLst>
          </p:cNvPr>
          <p:cNvSpPr/>
          <p:nvPr/>
        </p:nvSpPr>
        <p:spPr>
          <a:xfrm>
            <a:off x="-654009" y="-13447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215900" dist="38100" sx="101000" sy="101000" algn="ctr" rotWithShape="0">
              <a:prstClr val="black">
                <a:alpha val="3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 </a:t>
            </a: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3C48AE65-21E2-6B1C-2882-5169AFD67173}"/>
              </a:ext>
            </a:extLst>
          </p:cNvPr>
          <p:cNvGrpSpPr/>
          <p:nvPr/>
        </p:nvGrpSpPr>
        <p:grpSpPr>
          <a:xfrm>
            <a:off x="10577871" y="2562113"/>
            <a:ext cx="960120" cy="1859280"/>
            <a:chOff x="11231880" y="2575560"/>
            <a:chExt cx="960120" cy="1859280"/>
          </a:xfrm>
          <a:solidFill>
            <a:schemeClr val="bg1">
              <a:lumMod val="50000"/>
            </a:schemeClr>
          </a:solidFill>
        </p:grpSpPr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DE3D3917-F0F8-5DD3-2205-63DEF4FE1D1A}"/>
                </a:ext>
              </a:extLst>
            </p:cNvPr>
            <p:cNvSpPr/>
            <p:nvPr/>
          </p:nvSpPr>
          <p:spPr>
            <a:xfrm>
              <a:off x="11231880" y="2575560"/>
              <a:ext cx="960120" cy="1859280"/>
            </a:xfrm>
            <a:custGeom>
              <a:avLst/>
              <a:gdLst>
                <a:gd name="connsiteX0" fmla="*/ 929640 w 960120"/>
                <a:gd name="connsiteY0" fmla="*/ 0 h 1859280"/>
                <a:gd name="connsiteX1" fmla="*/ 960120 w 960120"/>
                <a:gd name="connsiteY1" fmla="*/ 3073 h 1859280"/>
                <a:gd name="connsiteX2" fmla="*/ 960120 w 960120"/>
                <a:gd name="connsiteY2" fmla="*/ 1856207 h 1859280"/>
                <a:gd name="connsiteX3" fmla="*/ 929640 w 960120"/>
                <a:gd name="connsiteY3" fmla="*/ 1859280 h 1859280"/>
                <a:gd name="connsiteX4" fmla="*/ 0 w 960120"/>
                <a:gd name="connsiteY4" fmla="*/ 929640 h 1859280"/>
                <a:gd name="connsiteX5" fmla="*/ 929640 w 960120"/>
                <a:gd name="connsiteY5" fmla="*/ 0 h 1859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60120" h="1859280">
                  <a:moveTo>
                    <a:pt x="929640" y="0"/>
                  </a:moveTo>
                  <a:lnTo>
                    <a:pt x="960120" y="3073"/>
                  </a:lnTo>
                  <a:lnTo>
                    <a:pt x="960120" y="1856207"/>
                  </a:lnTo>
                  <a:lnTo>
                    <a:pt x="929640" y="1859280"/>
                  </a:lnTo>
                  <a:cubicBezTo>
                    <a:pt x="416214" y="1859280"/>
                    <a:pt x="0" y="1443066"/>
                    <a:pt x="0" y="929640"/>
                  </a:cubicBezTo>
                  <a:cubicBezTo>
                    <a:pt x="0" y="416214"/>
                    <a:pt x="416214" y="0"/>
                    <a:pt x="929640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GB"/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1CDC7C2B-79F1-7C82-D80B-734963EF1D70}"/>
                </a:ext>
              </a:extLst>
            </p:cNvPr>
            <p:cNvSpPr txBox="1"/>
            <p:nvPr/>
          </p:nvSpPr>
          <p:spPr>
            <a:xfrm rot="16200000">
              <a:off x="11341249" y="3305145"/>
              <a:ext cx="12954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2000" b="1" dirty="0">
                  <a:solidFill>
                    <a:schemeClr val="bg1"/>
                  </a:solidFill>
                  <a:latin typeface="Tw Cen MT" panose="020B0602020104020603" pitchFamily="34" charset="0"/>
                  <a:cs typeface="Arial" panose="020B0604020202020204" pitchFamily="34" charset="0"/>
                </a:rPr>
                <a:t>Causes </a:t>
              </a:r>
            </a:p>
          </p:txBody>
        </p:sp>
      </p:grpSp>
      <p:sp>
        <p:nvSpPr>
          <p:cNvPr id="39" name="Rectangle 38">
            <a:extLst>
              <a:ext uri="{FF2B5EF4-FFF2-40B4-BE49-F238E27FC236}">
                <a16:creationId xmlns:a16="http://schemas.microsoft.com/office/drawing/2014/main" id="{D41F246A-4718-0C54-BC56-8B7A6C9973AB}"/>
              </a:ext>
            </a:extLst>
          </p:cNvPr>
          <p:cNvSpPr/>
          <p:nvPr/>
        </p:nvSpPr>
        <p:spPr>
          <a:xfrm>
            <a:off x="-774452" y="-5827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215900" dist="38100" sx="101000" sy="101000" algn="ctr" rotWithShape="0">
              <a:prstClr val="black">
                <a:alpha val="3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 </a:t>
            </a: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18B032AE-9B5A-7B50-3EDA-965DD1B3660F}"/>
              </a:ext>
            </a:extLst>
          </p:cNvPr>
          <p:cNvGrpSpPr/>
          <p:nvPr/>
        </p:nvGrpSpPr>
        <p:grpSpPr>
          <a:xfrm>
            <a:off x="10457428" y="2600213"/>
            <a:ext cx="1024359" cy="1859280"/>
            <a:chOff x="11231880" y="2575560"/>
            <a:chExt cx="1024359" cy="1859280"/>
          </a:xfrm>
          <a:solidFill>
            <a:schemeClr val="bg1">
              <a:lumMod val="50000"/>
            </a:schemeClr>
          </a:solidFill>
        </p:grpSpPr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56EED7B3-267A-462B-AF77-664DE8796B5A}"/>
                </a:ext>
              </a:extLst>
            </p:cNvPr>
            <p:cNvSpPr/>
            <p:nvPr/>
          </p:nvSpPr>
          <p:spPr>
            <a:xfrm>
              <a:off x="11231880" y="2575560"/>
              <a:ext cx="960120" cy="1859280"/>
            </a:xfrm>
            <a:custGeom>
              <a:avLst/>
              <a:gdLst>
                <a:gd name="connsiteX0" fmla="*/ 929640 w 960120"/>
                <a:gd name="connsiteY0" fmla="*/ 0 h 1859280"/>
                <a:gd name="connsiteX1" fmla="*/ 960120 w 960120"/>
                <a:gd name="connsiteY1" fmla="*/ 3073 h 1859280"/>
                <a:gd name="connsiteX2" fmla="*/ 960120 w 960120"/>
                <a:gd name="connsiteY2" fmla="*/ 1856207 h 1859280"/>
                <a:gd name="connsiteX3" fmla="*/ 929640 w 960120"/>
                <a:gd name="connsiteY3" fmla="*/ 1859280 h 1859280"/>
                <a:gd name="connsiteX4" fmla="*/ 0 w 960120"/>
                <a:gd name="connsiteY4" fmla="*/ 929640 h 1859280"/>
                <a:gd name="connsiteX5" fmla="*/ 929640 w 960120"/>
                <a:gd name="connsiteY5" fmla="*/ 0 h 1859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60120" h="1859280">
                  <a:moveTo>
                    <a:pt x="929640" y="0"/>
                  </a:moveTo>
                  <a:lnTo>
                    <a:pt x="960120" y="3073"/>
                  </a:lnTo>
                  <a:lnTo>
                    <a:pt x="960120" y="1856207"/>
                  </a:lnTo>
                  <a:lnTo>
                    <a:pt x="929640" y="1859280"/>
                  </a:lnTo>
                  <a:cubicBezTo>
                    <a:pt x="416214" y="1859280"/>
                    <a:pt x="0" y="1443066"/>
                    <a:pt x="0" y="929640"/>
                  </a:cubicBezTo>
                  <a:cubicBezTo>
                    <a:pt x="0" y="416214"/>
                    <a:pt x="416214" y="0"/>
                    <a:pt x="929640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GB"/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991DCC69-4704-9500-D09C-4CFA25048EE1}"/>
                </a:ext>
              </a:extLst>
            </p:cNvPr>
            <p:cNvSpPr txBox="1"/>
            <p:nvPr/>
          </p:nvSpPr>
          <p:spPr>
            <a:xfrm rot="16200000">
              <a:off x="11408484" y="3305145"/>
              <a:ext cx="12954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2000" b="1" dirty="0">
                  <a:solidFill>
                    <a:schemeClr val="bg1"/>
                  </a:solidFill>
                  <a:latin typeface="Tw Cen MT" panose="020B0602020104020603" pitchFamily="34" charset="0"/>
                  <a:cs typeface="Arial" panose="020B0604020202020204" pitchFamily="34" charset="0"/>
                </a:rPr>
                <a:t>Fatalities </a:t>
              </a:r>
            </a:p>
          </p:txBody>
        </p:sp>
      </p:grpSp>
      <p:pic>
        <p:nvPicPr>
          <p:cNvPr id="46" name="Picture 45">
            <a:extLst>
              <a:ext uri="{FF2B5EF4-FFF2-40B4-BE49-F238E27FC236}">
                <a16:creationId xmlns:a16="http://schemas.microsoft.com/office/drawing/2014/main" id="{66A29F88-34C0-BED6-7923-4D75FE092C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7941" y="241702"/>
            <a:ext cx="1798063" cy="1317438"/>
          </a:xfrm>
          <a:prstGeom prst="rect">
            <a:avLst/>
          </a:prstGeom>
        </p:spPr>
      </p:pic>
      <p:sp>
        <p:nvSpPr>
          <p:cNvPr id="44" name="Rectangle 43">
            <a:extLst>
              <a:ext uri="{FF2B5EF4-FFF2-40B4-BE49-F238E27FC236}">
                <a16:creationId xmlns:a16="http://schemas.microsoft.com/office/drawing/2014/main" id="{90237BAD-976B-3C2C-14C4-367D1EEA8F34}"/>
              </a:ext>
            </a:extLst>
          </p:cNvPr>
          <p:cNvSpPr/>
          <p:nvPr/>
        </p:nvSpPr>
        <p:spPr>
          <a:xfrm>
            <a:off x="-772310" y="-14791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215900" dist="38100" sx="101000" sy="101000" algn="ctr" rotWithShape="0">
              <a:prstClr val="black">
                <a:alpha val="3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 </a:t>
            </a: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62A6ED6F-A678-C0D5-2E4E-7CE21074EC0A}"/>
              </a:ext>
            </a:extLst>
          </p:cNvPr>
          <p:cNvGrpSpPr/>
          <p:nvPr/>
        </p:nvGrpSpPr>
        <p:grpSpPr>
          <a:xfrm>
            <a:off x="10459570" y="2591249"/>
            <a:ext cx="1024359" cy="1859280"/>
            <a:chOff x="11231880" y="2575560"/>
            <a:chExt cx="1024359" cy="1859280"/>
          </a:xfrm>
          <a:solidFill>
            <a:schemeClr val="bg1">
              <a:lumMod val="65000"/>
            </a:schemeClr>
          </a:solidFill>
        </p:grpSpPr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F09D1A05-86AF-8DAF-A755-84253794A0F9}"/>
                </a:ext>
              </a:extLst>
            </p:cNvPr>
            <p:cNvSpPr/>
            <p:nvPr/>
          </p:nvSpPr>
          <p:spPr>
            <a:xfrm>
              <a:off x="11231880" y="2575560"/>
              <a:ext cx="960120" cy="1859280"/>
            </a:xfrm>
            <a:custGeom>
              <a:avLst/>
              <a:gdLst>
                <a:gd name="connsiteX0" fmla="*/ 929640 w 960120"/>
                <a:gd name="connsiteY0" fmla="*/ 0 h 1859280"/>
                <a:gd name="connsiteX1" fmla="*/ 960120 w 960120"/>
                <a:gd name="connsiteY1" fmla="*/ 3073 h 1859280"/>
                <a:gd name="connsiteX2" fmla="*/ 960120 w 960120"/>
                <a:gd name="connsiteY2" fmla="*/ 1856207 h 1859280"/>
                <a:gd name="connsiteX3" fmla="*/ 929640 w 960120"/>
                <a:gd name="connsiteY3" fmla="*/ 1859280 h 1859280"/>
                <a:gd name="connsiteX4" fmla="*/ 0 w 960120"/>
                <a:gd name="connsiteY4" fmla="*/ 929640 h 1859280"/>
                <a:gd name="connsiteX5" fmla="*/ 929640 w 960120"/>
                <a:gd name="connsiteY5" fmla="*/ 0 h 1859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60120" h="1859280">
                  <a:moveTo>
                    <a:pt x="929640" y="0"/>
                  </a:moveTo>
                  <a:lnTo>
                    <a:pt x="960120" y="3073"/>
                  </a:lnTo>
                  <a:lnTo>
                    <a:pt x="960120" y="1856207"/>
                  </a:lnTo>
                  <a:lnTo>
                    <a:pt x="929640" y="1859280"/>
                  </a:lnTo>
                  <a:cubicBezTo>
                    <a:pt x="416214" y="1859280"/>
                    <a:pt x="0" y="1443066"/>
                    <a:pt x="0" y="929640"/>
                  </a:cubicBezTo>
                  <a:cubicBezTo>
                    <a:pt x="0" y="416214"/>
                    <a:pt x="416214" y="0"/>
                    <a:pt x="929640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GB"/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DB478C5F-BD6E-47B7-1C1B-F5520113BB53}"/>
                </a:ext>
              </a:extLst>
            </p:cNvPr>
            <p:cNvSpPr txBox="1"/>
            <p:nvPr/>
          </p:nvSpPr>
          <p:spPr>
            <a:xfrm rot="16200000">
              <a:off x="11408484" y="3305145"/>
              <a:ext cx="12954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2000" b="1" dirty="0">
                  <a:solidFill>
                    <a:schemeClr val="bg1"/>
                  </a:solidFill>
                  <a:latin typeface="Tw Cen MT" panose="020B0602020104020603" pitchFamily="34" charset="0"/>
                  <a:cs typeface="Arial" panose="020B0604020202020204" pitchFamily="34" charset="0"/>
                </a:rPr>
                <a:t>Affected </a:t>
              </a:r>
            </a:p>
          </p:txBody>
        </p:sp>
      </p:grpSp>
      <p:sp>
        <p:nvSpPr>
          <p:cNvPr id="49" name="Rectangle 48">
            <a:extLst>
              <a:ext uri="{FF2B5EF4-FFF2-40B4-BE49-F238E27FC236}">
                <a16:creationId xmlns:a16="http://schemas.microsoft.com/office/drawing/2014/main" id="{484DB93E-77EF-E3E3-333C-13640B2949F3}"/>
              </a:ext>
            </a:extLst>
          </p:cNvPr>
          <p:cNvSpPr/>
          <p:nvPr/>
        </p:nvSpPr>
        <p:spPr>
          <a:xfrm>
            <a:off x="-895468" y="-10308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215900" dist="38100" sx="101000" sy="101000" algn="ctr" rotWithShape="0">
              <a:prstClr val="black">
                <a:alpha val="3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 </a:t>
            </a:r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92390505-6A77-9CC3-507F-4C6E5A55CC15}"/>
              </a:ext>
            </a:extLst>
          </p:cNvPr>
          <p:cNvGrpSpPr/>
          <p:nvPr/>
        </p:nvGrpSpPr>
        <p:grpSpPr>
          <a:xfrm>
            <a:off x="10336412" y="2595732"/>
            <a:ext cx="1010912" cy="1859280"/>
            <a:chOff x="11231880" y="2575560"/>
            <a:chExt cx="1010912" cy="1859280"/>
          </a:xfrm>
          <a:solidFill>
            <a:schemeClr val="bg2">
              <a:lumMod val="75000"/>
            </a:schemeClr>
          </a:solidFill>
        </p:grpSpPr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FA813E6B-D1CC-510D-6B0F-7C82A2CA1080}"/>
                </a:ext>
              </a:extLst>
            </p:cNvPr>
            <p:cNvSpPr/>
            <p:nvPr/>
          </p:nvSpPr>
          <p:spPr>
            <a:xfrm>
              <a:off x="11231880" y="2575560"/>
              <a:ext cx="960120" cy="1859280"/>
            </a:xfrm>
            <a:custGeom>
              <a:avLst/>
              <a:gdLst>
                <a:gd name="connsiteX0" fmla="*/ 929640 w 960120"/>
                <a:gd name="connsiteY0" fmla="*/ 0 h 1859280"/>
                <a:gd name="connsiteX1" fmla="*/ 960120 w 960120"/>
                <a:gd name="connsiteY1" fmla="*/ 3073 h 1859280"/>
                <a:gd name="connsiteX2" fmla="*/ 960120 w 960120"/>
                <a:gd name="connsiteY2" fmla="*/ 1856207 h 1859280"/>
                <a:gd name="connsiteX3" fmla="*/ 929640 w 960120"/>
                <a:gd name="connsiteY3" fmla="*/ 1859280 h 1859280"/>
                <a:gd name="connsiteX4" fmla="*/ 0 w 960120"/>
                <a:gd name="connsiteY4" fmla="*/ 929640 h 1859280"/>
                <a:gd name="connsiteX5" fmla="*/ 929640 w 960120"/>
                <a:gd name="connsiteY5" fmla="*/ 0 h 1859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60120" h="1859280">
                  <a:moveTo>
                    <a:pt x="929640" y="0"/>
                  </a:moveTo>
                  <a:lnTo>
                    <a:pt x="960120" y="3073"/>
                  </a:lnTo>
                  <a:lnTo>
                    <a:pt x="960120" y="1856207"/>
                  </a:lnTo>
                  <a:lnTo>
                    <a:pt x="929640" y="1859280"/>
                  </a:lnTo>
                  <a:cubicBezTo>
                    <a:pt x="416214" y="1859280"/>
                    <a:pt x="0" y="1443066"/>
                    <a:pt x="0" y="929640"/>
                  </a:cubicBezTo>
                  <a:cubicBezTo>
                    <a:pt x="0" y="416214"/>
                    <a:pt x="416214" y="0"/>
                    <a:pt x="929640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GB"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5BBF8850-AFD1-4BE8-291A-8C6552DB3281}"/>
                </a:ext>
              </a:extLst>
            </p:cNvPr>
            <p:cNvSpPr txBox="1"/>
            <p:nvPr/>
          </p:nvSpPr>
          <p:spPr>
            <a:xfrm rot="16200000">
              <a:off x="11297768" y="3207876"/>
              <a:ext cx="148993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2000" b="1" dirty="0">
                  <a:solidFill>
                    <a:schemeClr val="bg1"/>
                  </a:solidFill>
                  <a:latin typeface="Tw Cen MT" panose="020B0602020104020603" pitchFamily="34" charset="0"/>
                  <a:cs typeface="Arial" panose="020B0604020202020204" pitchFamily="34" charset="0"/>
                </a:rPr>
                <a:t>Human Cost </a:t>
              </a:r>
            </a:p>
          </p:txBody>
        </p:sp>
      </p:grpSp>
      <p:sp>
        <p:nvSpPr>
          <p:cNvPr id="53" name="Rectangle 52">
            <a:extLst>
              <a:ext uri="{FF2B5EF4-FFF2-40B4-BE49-F238E27FC236}">
                <a16:creationId xmlns:a16="http://schemas.microsoft.com/office/drawing/2014/main" id="{370814D3-BA06-5029-01B4-352246F7AAAF}"/>
              </a:ext>
            </a:extLst>
          </p:cNvPr>
          <p:cNvSpPr/>
          <p:nvPr/>
        </p:nvSpPr>
        <p:spPr>
          <a:xfrm>
            <a:off x="-532606" y="-36987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215900" dist="38100" sx="101000" sy="101000" algn="ctr" rotWithShape="0">
              <a:prstClr val="black">
                <a:alpha val="3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 </a:t>
            </a:r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EE2DD946-33E2-BCA3-CFC9-00D680E721F9}"/>
              </a:ext>
            </a:extLst>
          </p:cNvPr>
          <p:cNvGrpSpPr/>
          <p:nvPr/>
        </p:nvGrpSpPr>
        <p:grpSpPr>
          <a:xfrm>
            <a:off x="10699274" y="2569053"/>
            <a:ext cx="1010912" cy="1859280"/>
            <a:chOff x="11231880" y="2575560"/>
            <a:chExt cx="1010912" cy="1859280"/>
          </a:xfrm>
          <a:solidFill>
            <a:schemeClr val="bg1">
              <a:lumMod val="75000"/>
            </a:schemeClr>
          </a:solidFill>
        </p:grpSpPr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531E702C-48CA-4530-07E7-0BAF983CD330}"/>
                </a:ext>
              </a:extLst>
            </p:cNvPr>
            <p:cNvSpPr/>
            <p:nvPr/>
          </p:nvSpPr>
          <p:spPr>
            <a:xfrm>
              <a:off x="11231880" y="2575560"/>
              <a:ext cx="960120" cy="1859280"/>
            </a:xfrm>
            <a:custGeom>
              <a:avLst/>
              <a:gdLst>
                <a:gd name="connsiteX0" fmla="*/ 929640 w 960120"/>
                <a:gd name="connsiteY0" fmla="*/ 0 h 1859280"/>
                <a:gd name="connsiteX1" fmla="*/ 960120 w 960120"/>
                <a:gd name="connsiteY1" fmla="*/ 3073 h 1859280"/>
                <a:gd name="connsiteX2" fmla="*/ 960120 w 960120"/>
                <a:gd name="connsiteY2" fmla="*/ 1856207 h 1859280"/>
                <a:gd name="connsiteX3" fmla="*/ 929640 w 960120"/>
                <a:gd name="connsiteY3" fmla="*/ 1859280 h 1859280"/>
                <a:gd name="connsiteX4" fmla="*/ 0 w 960120"/>
                <a:gd name="connsiteY4" fmla="*/ 929640 h 1859280"/>
                <a:gd name="connsiteX5" fmla="*/ 929640 w 960120"/>
                <a:gd name="connsiteY5" fmla="*/ 0 h 1859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60120" h="1859280">
                  <a:moveTo>
                    <a:pt x="929640" y="0"/>
                  </a:moveTo>
                  <a:lnTo>
                    <a:pt x="960120" y="3073"/>
                  </a:lnTo>
                  <a:lnTo>
                    <a:pt x="960120" y="1856207"/>
                  </a:lnTo>
                  <a:lnTo>
                    <a:pt x="929640" y="1859280"/>
                  </a:lnTo>
                  <a:cubicBezTo>
                    <a:pt x="416214" y="1859280"/>
                    <a:pt x="0" y="1443066"/>
                    <a:pt x="0" y="929640"/>
                  </a:cubicBezTo>
                  <a:cubicBezTo>
                    <a:pt x="0" y="416214"/>
                    <a:pt x="416214" y="0"/>
                    <a:pt x="929640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GB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EBFDF4A8-02E7-8EC3-EA20-904F57C05F8B}"/>
                </a:ext>
              </a:extLst>
            </p:cNvPr>
            <p:cNvSpPr txBox="1"/>
            <p:nvPr/>
          </p:nvSpPr>
          <p:spPr>
            <a:xfrm rot="16200000">
              <a:off x="11297768" y="3294960"/>
              <a:ext cx="148993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2000" b="1" dirty="0">
                  <a:solidFill>
                    <a:schemeClr val="bg1"/>
                  </a:solidFill>
                  <a:latin typeface="Tw Cen MT" panose="020B0602020104020603" pitchFamily="34" charset="0"/>
                  <a:cs typeface="Arial" panose="020B0604020202020204" pitchFamily="34" charset="0"/>
                </a:rPr>
                <a:t>Progress </a:t>
              </a:r>
            </a:p>
          </p:txBody>
        </p:sp>
      </p:grpSp>
      <p:sp>
        <p:nvSpPr>
          <p:cNvPr id="57" name="Rectangle 56">
            <a:extLst>
              <a:ext uri="{FF2B5EF4-FFF2-40B4-BE49-F238E27FC236}">
                <a16:creationId xmlns:a16="http://schemas.microsoft.com/office/drawing/2014/main" id="{35B8912C-5DB4-33EA-E066-B72A5690B872}"/>
              </a:ext>
            </a:extLst>
          </p:cNvPr>
          <p:cNvSpPr/>
          <p:nvPr/>
        </p:nvSpPr>
        <p:spPr>
          <a:xfrm>
            <a:off x="-575297" y="-59613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215900" dist="38100" sx="101000" sy="101000" algn="ctr" rotWithShape="0">
              <a:prstClr val="black">
                <a:alpha val="3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 </a:t>
            </a:r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6C8C31DD-7F9F-0F73-D80D-23DDA4E0B860}"/>
              </a:ext>
            </a:extLst>
          </p:cNvPr>
          <p:cNvGrpSpPr/>
          <p:nvPr/>
        </p:nvGrpSpPr>
        <p:grpSpPr>
          <a:xfrm>
            <a:off x="10656583" y="2546427"/>
            <a:ext cx="1010912" cy="1859280"/>
            <a:chOff x="11231880" y="2575560"/>
            <a:chExt cx="1010912" cy="1859280"/>
          </a:xfrm>
          <a:gradFill flip="none" rotWithShape="1">
            <a:gsLst>
              <a:gs pos="0">
                <a:schemeClr val="accent3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accent3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accent3">
                  <a:lumMod val="60000"/>
                  <a:lumOff val="40000"/>
                  <a:shade val="100000"/>
                  <a:satMod val="115000"/>
                </a:schemeClr>
              </a:gs>
            </a:gsLst>
            <a:lin ang="5400000" scaled="1"/>
            <a:tileRect/>
          </a:gradFill>
        </p:grpSpPr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4404D414-F4AB-AECA-09EC-8805A5E805C0}"/>
                </a:ext>
              </a:extLst>
            </p:cNvPr>
            <p:cNvSpPr/>
            <p:nvPr/>
          </p:nvSpPr>
          <p:spPr>
            <a:xfrm>
              <a:off x="11231880" y="2575560"/>
              <a:ext cx="960120" cy="1859280"/>
            </a:xfrm>
            <a:custGeom>
              <a:avLst/>
              <a:gdLst>
                <a:gd name="connsiteX0" fmla="*/ 929640 w 960120"/>
                <a:gd name="connsiteY0" fmla="*/ 0 h 1859280"/>
                <a:gd name="connsiteX1" fmla="*/ 960120 w 960120"/>
                <a:gd name="connsiteY1" fmla="*/ 3073 h 1859280"/>
                <a:gd name="connsiteX2" fmla="*/ 960120 w 960120"/>
                <a:gd name="connsiteY2" fmla="*/ 1856207 h 1859280"/>
                <a:gd name="connsiteX3" fmla="*/ 929640 w 960120"/>
                <a:gd name="connsiteY3" fmla="*/ 1859280 h 1859280"/>
                <a:gd name="connsiteX4" fmla="*/ 0 w 960120"/>
                <a:gd name="connsiteY4" fmla="*/ 929640 h 1859280"/>
                <a:gd name="connsiteX5" fmla="*/ 929640 w 960120"/>
                <a:gd name="connsiteY5" fmla="*/ 0 h 1859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60120" h="1859280">
                  <a:moveTo>
                    <a:pt x="929640" y="0"/>
                  </a:moveTo>
                  <a:lnTo>
                    <a:pt x="960120" y="3073"/>
                  </a:lnTo>
                  <a:lnTo>
                    <a:pt x="960120" y="1856207"/>
                  </a:lnTo>
                  <a:lnTo>
                    <a:pt x="929640" y="1859280"/>
                  </a:lnTo>
                  <a:cubicBezTo>
                    <a:pt x="416214" y="1859280"/>
                    <a:pt x="0" y="1443066"/>
                    <a:pt x="0" y="929640"/>
                  </a:cubicBezTo>
                  <a:cubicBezTo>
                    <a:pt x="0" y="416214"/>
                    <a:pt x="416214" y="0"/>
                    <a:pt x="929640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GB" dirty="0"/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83E124D1-6BE2-E652-5154-12955F363425}"/>
                </a:ext>
              </a:extLst>
            </p:cNvPr>
            <p:cNvSpPr txBox="1"/>
            <p:nvPr/>
          </p:nvSpPr>
          <p:spPr>
            <a:xfrm rot="16200000">
              <a:off x="11297768" y="3280446"/>
              <a:ext cx="148993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2000" b="1" dirty="0">
                  <a:solidFill>
                    <a:schemeClr val="bg1"/>
                  </a:solidFill>
                  <a:latin typeface="Tw Cen MT" panose="020B0602020104020603" pitchFamily="34" charset="0"/>
                  <a:cs typeface="Arial" panose="020B0604020202020204" pitchFamily="34" charset="0"/>
                </a:rPr>
                <a:t>Recommend</a:t>
              </a:r>
            </a:p>
          </p:txBody>
        </p:sp>
      </p:grpSp>
      <p:sp>
        <p:nvSpPr>
          <p:cNvPr id="61" name="Rectangle 60">
            <a:extLst>
              <a:ext uri="{FF2B5EF4-FFF2-40B4-BE49-F238E27FC236}">
                <a16:creationId xmlns:a16="http://schemas.microsoft.com/office/drawing/2014/main" id="{2B31BC2A-BE36-3F71-05E8-403FA4EE0AF4}"/>
              </a:ext>
            </a:extLst>
          </p:cNvPr>
          <p:cNvSpPr/>
          <p:nvPr/>
        </p:nvSpPr>
        <p:spPr>
          <a:xfrm>
            <a:off x="-550741" y="-55345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215900" dist="38100" sx="101000" sy="101000" algn="ctr" rotWithShape="0">
              <a:prstClr val="black">
                <a:alpha val="3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 </a:t>
            </a:r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id="{E04C32D5-2A4C-300B-2755-E288D91AA272}"/>
              </a:ext>
            </a:extLst>
          </p:cNvPr>
          <p:cNvGrpSpPr/>
          <p:nvPr/>
        </p:nvGrpSpPr>
        <p:grpSpPr>
          <a:xfrm>
            <a:off x="10681139" y="2550695"/>
            <a:ext cx="1010912" cy="1859280"/>
            <a:chOff x="11231880" y="2575560"/>
            <a:chExt cx="1010912" cy="1859280"/>
          </a:xfrm>
          <a:solidFill>
            <a:schemeClr val="bg1">
              <a:lumMod val="75000"/>
            </a:schemeClr>
          </a:solidFill>
        </p:grpSpPr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64DB4248-10BA-0CF6-2085-9557042D5B33}"/>
                </a:ext>
              </a:extLst>
            </p:cNvPr>
            <p:cNvSpPr/>
            <p:nvPr/>
          </p:nvSpPr>
          <p:spPr>
            <a:xfrm>
              <a:off x="11231880" y="2575560"/>
              <a:ext cx="960120" cy="1859280"/>
            </a:xfrm>
            <a:custGeom>
              <a:avLst/>
              <a:gdLst>
                <a:gd name="connsiteX0" fmla="*/ 929640 w 960120"/>
                <a:gd name="connsiteY0" fmla="*/ 0 h 1859280"/>
                <a:gd name="connsiteX1" fmla="*/ 960120 w 960120"/>
                <a:gd name="connsiteY1" fmla="*/ 3073 h 1859280"/>
                <a:gd name="connsiteX2" fmla="*/ 960120 w 960120"/>
                <a:gd name="connsiteY2" fmla="*/ 1856207 h 1859280"/>
                <a:gd name="connsiteX3" fmla="*/ 929640 w 960120"/>
                <a:gd name="connsiteY3" fmla="*/ 1859280 h 1859280"/>
                <a:gd name="connsiteX4" fmla="*/ 0 w 960120"/>
                <a:gd name="connsiteY4" fmla="*/ 929640 h 1859280"/>
                <a:gd name="connsiteX5" fmla="*/ 929640 w 960120"/>
                <a:gd name="connsiteY5" fmla="*/ 0 h 1859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60120" h="1859280">
                  <a:moveTo>
                    <a:pt x="929640" y="0"/>
                  </a:moveTo>
                  <a:lnTo>
                    <a:pt x="960120" y="3073"/>
                  </a:lnTo>
                  <a:lnTo>
                    <a:pt x="960120" y="1856207"/>
                  </a:lnTo>
                  <a:lnTo>
                    <a:pt x="929640" y="1859280"/>
                  </a:lnTo>
                  <a:cubicBezTo>
                    <a:pt x="416214" y="1859280"/>
                    <a:pt x="0" y="1443066"/>
                    <a:pt x="0" y="929640"/>
                  </a:cubicBezTo>
                  <a:cubicBezTo>
                    <a:pt x="0" y="416214"/>
                    <a:pt x="416214" y="0"/>
                    <a:pt x="929640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GB"/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9B818930-11AA-99AC-A80C-679E11644ED8}"/>
                </a:ext>
              </a:extLst>
            </p:cNvPr>
            <p:cNvSpPr txBox="1"/>
            <p:nvPr/>
          </p:nvSpPr>
          <p:spPr>
            <a:xfrm rot="16200000">
              <a:off x="11297768" y="3207876"/>
              <a:ext cx="148993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2000" b="1" dirty="0">
                  <a:solidFill>
                    <a:schemeClr val="bg1"/>
                  </a:solidFill>
                  <a:latin typeface="Tw Cen MT" panose="020B0602020104020603" pitchFamily="34" charset="0"/>
                  <a:cs typeface="Arial" panose="020B0604020202020204" pitchFamily="34" charset="0"/>
                </a:rPr>
                <a:t>Conclusion</a:t>
              </a:r>
            </a:p>
          </p:txBody>
        </p:sp>
      </p:grpSp>
      <p:sp>
        <p:nvSpPr>
          <p:cNvPr id="65" name="Rectangle 64">
            <a:extLst>
              <a:ext uri="{FF2B5EF4-FFF2-40B4-BE49-F238E27FC236}">
                <a16:creationId xmlns:a16="http://schemas.microsoft.com/office/drawing/2014/main" id="{FC719E5A-8818-9521-BDB7-330EAFE4C238}"/>
              </a:ext>
            </a:extLst>
          </p:cNvPr>
          <p:cNvSpPr/>
          <p:nvPr/>
        </p:nvSpPr>
        <p:spPr>
          <a:xfrm>
            <a:off x="-688633" y="-48085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215900" dist="38100" sx="101000" sy="101000" algn="ctr" rotWithShape="0">
              <a:prstClr val="black">
                <a:alpha val="3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 </a:t>
            </a:r>
          </a:p>
        </p:txBody>
      </p:sp>
      <p:grpSp>
        <p:nvGrpSpPr>
          <p:cNvPr id="66" name="Group 65">
            <a:extLst>
              <a:ext uri="{FF2B5EF4-FFF2-40B4-BE49-F238E27FC236}">
                <a16:creationId xmlns:a16="http://schemas.microsoft.com/office/drawing/2014/main" id="{F5714398-2C4F-295A-ACEF-689A298927F2}"/>
              </a:ext>
            </a:extLst>
          </p:cNvPr>
          <p:cNvGrpSpPr/>
          <p:nvPr/>
        </p:nvGrpSpPr>
        <p:grpSpPr>
          <a:xfrm>
            <a:off x="10543247" y="2557955"/>
            <a:ext cx="1010912" cy="1859280"/>
            <a:chOff x="11231880" y="2575560"/>
            <a:chExt cx="1010912" cy="1859280"/>
          </a:xfrm>
          <a:solidFill>
            <a:schemeClr val="bg1">
              <a:lumMod val="85000"/>
            </a:schemeClr>
          </a:solidFill>
        </p:grpSpPr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F93E5449-838D-DA50-94F2-C1763E156148}"/>
                </a:ext>
              </a:extLst>
            </p:cNvPr>
            <p:cNvSpPr/>
            <p:nvPr/>
          </p:nvSpPr>
          <p:spPr>
            <a:xfrm>
              <a:off x="11231880" y="2575560"/>
              <a:ext cx="960120" cy="1859280"/>
            </a:xfrm>
            <a:custGeom>
              <a:avLst/>
              <a:gdLst>
                <a:gd name="connsiteX0" fmla="*/ 929640 w 960120"/>
                <a:gd name="connsiteY0" fmla="*/ 0 h 1859280"/>
                <a:gd name="connsiteX1" fmla="*/ 960120 w 960120"/>
                <a:gd name="connsiteY1" fmla="*/ 3073 h 1859280"/>
                <a:gd name="connsiteX2" fmla="*/ 960120 w 960120"/>
                <a:gd name="connsiteY2" fmla="*/ 1856207 h 1859280"/>
                <a:gd name="connsiteX3" fmla="*/ 929640 w 960120"/>
                <a:gd name="connsiteY3" fmla="*/ 1859280 h 1859280"/>
                <a:gd name="connsiteX4" fmla="*/ 0 w 960120"/>
                <a:gd name="connsiteY4" fmla="*/ 929640 h 1859280"/>
                <a:gd name="connsiteX5" fmla="*/ 929640 w 960120"/>
                <a:gd name="connsiteY5" fmla="*/ 0 h 1859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60120" h="1859280">
                  <a:moveTo>
                    <a:pt x="929640" y="0"/>
                  </a:moveTo>
                  <a:lnTo>
                    <a:pt x="960120" y="3073"/>
                  </a:lnTo>
                  <a:lnTo>
                    <a:pt x="960120" y="1856207"/>
                  </a:lnTo>
                  <a:lnTo>
                    <a:pt x="929640" y="1859280"/>
                  </a:lnTo>
                  <a:cubicBezTo>
                    <a:pt x="416214" y="1859280"/>
                    <a:pt x="0" y="1443066"/>
                    <a:pt x="0" y="929640"/>
                  </a:cubicBezTo>
                  <a:cubicBezTo>
                    <a:pt x="0" y="416214"/>
                    <a:pt x="416214" y="0"/>
                    <a:pt x="929640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GB"/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AEB5C6C7-862E-D754-9B67-EB0D47D81481}"/>
                </a:ext>
              </a:extLst>
            </p:cNvPr>
            <p:cNvSpPr txBox="1"/>
            <p:nvPr/>
          </p:nvSpPr>
          <p:spPr>
            <a:xfrm rot="16200000">
              <a:off x="11297768" y="3265932"/>
              <a:ext cx="148993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w Cen MT" panose="020B0602020104020603" pitchFamily="34" charset="0"/>
                  <a:cs typeface="Arial" panose="020B0604020202020204" pitchFamily="34" charset="0"/>
                </a:rPr>
                <a:t>The</a:t>
              </a:r>
              <a:r>
                <a:rPr lang="en-GB" sz="2000" b="1" dirty="0">
                  <a:solidFill>
                    <a:schemeClr val="bg1"/>
                  </a:solidFill>
                  <a:latin typeface="Tw Cen MT" panose="020B0602020104020603" pitchFamily="34" charset="0"/>
                  <a:cs typeface="Arial" panose="020B0604020202020204" pitchFamily="34" charset="0"/>
                </a:rPr>
                <a:t> </a:t>
              </a:r>
              <a:r>
                <a:rPr lang="en-GB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w Cen MT" panose="020B0602020104020603" pitchFamily="34" charset="0"/>
                  <a:cs typeface="Arial" panose="020B0604020202020204" pitchFamily="34" charset="0"/>
                </a:rPr>
                <a:t>End</a:t>
              </a:r>
            </a:p>
          </p:txBody>
        </p:sp>
      </p:grpSp>
      <p:pic>
        <p:nvPicPr>
          <p:cNvPr id="72" name="Picture 71" descr="A black text on a black background&#10;&#10;AI-generated content may be incorrect.">
            <a:extLst>
              <a:ext uri="{FF2B5EF4-FFF2-40B4-BE49-F238E27FC236}">
                <a16:creationId xmlns:a16="http://schemas.microsoft.com/office/drawing/2014/main" id="{085E02AD-BEE1-EAEC-1498-35C7795493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6476" y="2678430"/>
            <a:ext cx="7108722" cy="3543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326621"/>
      </p:ext>
    </p:extLst>
  </p:cSld>
  <p:clrMapOvr>
    <a:masterClrMapping/>
  </p:clrMapOvr>
  <p:transition>
    <p:wipe dir="r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976</TotalTime>
  <Words>824</Words>
  <Application>Microsoft Office PowerPoint</Application>
  <PresentationFormat>Widescreen</PresentationFormat>
  <Paragraphs>131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Calibri Light</vt:lpstr>
      <vt:lpstr>Tw Cen MT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Ibiso Bien</dc:creator>
  <cp:lastModifiedBy>SML-CMOTD-BDA-10</cp:lastModifiedBy>
  <cp:revision>10</cp:revision>
  <dcterms:created xsi:type="dcterms:W3CDTF">2025-10-31T05:06:24Z</dcterms:created>
  <dcterms:modified xsi:type="dcterms:W3CDTF">2025-11-04T14:32:41Z</dcterms:modified>
</cp:coreProperties>
</file>